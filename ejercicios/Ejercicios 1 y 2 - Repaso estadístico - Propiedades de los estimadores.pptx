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64" r:id="rId5"/>
    <p:sldId id="259" r:id="rId6"/>
    <p:sldId id="263" r:id="rId7"/>
    <p:sldId id="270" r:id="rId8"/>
    <p:sldId id="271" r:id="rId9"/>
    <p:sldId id="260" r:id="rId10"/>
    <p:sldId id="269" r:id="rId11"/>
    <p:sldId id="261" r:id="rId12"/>
    <p:sldId id="265" r:id="rId13"/>
    <p:sldId id="266" r:id="rId14"/>
    <p:sldId id="272" r:id="rId15"/>
    <p:sldId id="273" r:id="rId16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F44191-0AF3-48DA-B5E8-3A1A891A12BD}" v="549" dt="2026-03-16T14:40:14.1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ctavio Santalucia" userId="bacb8c15-ec69-407c-a779-cefb28a37651" providerId="ADAL" clId="{0DFB3433-ED79-4118-85D4-485A82DEE246}"/>
    <pc:docChg chg="undo custSel addSld modSld sldOrd">
      <pc:chgData name="Octavio Santalucia" userId="bacb8c15-ec69-407c-a779-cefb28a37651" providerId="ADAL" clId="{0DFB3433-ED79-4118-85D4-485A82DEE246}" dt="2026-03-16T14:40:14.185" v="1549" actId="20577"/>
      <pc:docMkLst>
        <pc:docMk/>
      </pc:docMkLst>
      <pc:sldChg chg="modSp mod">
        <pc:chgData name="Octavio Santalucia" userId="bacb8c15-ec69-407c-a779-cefb28a37651" providerId="ADAL" clId="{0DFB3433-ED79-4118-85D4-485A82DEE246}" dt="2026-03-02T14:51:38" v="201" actId="20577"/>
        <pc:sldMkLst>
          <pc:docMk/>
          <pc:sldMk cId="1898941749" sldId="257"/>
        </pc:sldMkLst>
        <pc:spChg chg="mod">
          <ac:chgData name="Octavio Santalucia" userId="bacb8c15-ec69-407c-a779-cefb28a37651" providerId="ADAL" clId="{0DFB3433-ED79-4118-85D4-485A82DEE246}" dt="2026-03-02T14:51:38" v="201" actId="20577"/>
          <ac:spMkLst>
            <pc:docMk/>
            <pc:sldMk cId="1898941749" sldId="257"/>
            <ac:spMk id="3" creationId="{DAE92D6A-AEB6-C787-4419-E2EDECCDC6BE}"/>
          </ac:spMkLst>
        </pc:spChg>
      </pc:sldChg>
      <pc:sldChg chg="modSp mod">
        <pc:chgData name="Octavio Santalucia" userId="bacb8c15-ec69-407c-a779-cefb28a37651" providerId="ADAL" clId="{0DFB3433-ED79-4118-85D4-485A82DEE246}" dt="2026-03-16T14:40:14.185" v="1549" actId="20577"/>
        <pc:sldMkLst>
          <pc:docMk/>
          <pc:sldMk cId="786326310" sldId="259"/>
        </pc:sldMkLst>
        <pc:spChg chg="mod">
          <ac:chgData name="Octavio Santalucia" userId="bacb8c15-ec69-407c-a779-cefb28a37651" providerId="ADAL" clId="{0DFB3433-ED79-4118-85D4-485A82DEE246}" dt="2026-03-02T14:47:20.679" v="82" actId="20577"/>
          <ac:spMkLst>
            <pc:docMk/>
            <pc:sldMk cId="786326310" sldId="259"/>
            <ac:spMk id="2" creationId="{F7E55CA3-5339-82FA-708F-E5954C3FE528}"/>
          </ac:spMkLst>
        </pc:spChg>
        <pc:spChg chg="mod">
          <ac:chgData name="Octavio Santalucia" userId="bacb8c15-ec69-407c-a779-cefb28a37651" providerId="ADAL" clId="{0DFB3433-ED79-4118-85D4-485A82DEE246}" dt="2026-03-16T14:40:14.185" v="1549" actId="20577"/>
          <ac:spMkLst>
            <pc:docMk/>
            <pc:sldMk cId="786326310" sldId="259"/>
            <ac:spMk id="3" creationId="{A2C72C63-0082-D1B0-A786-29AAD9EF1051}"/>
          </ac:spMkLst>
        </pc:spChg>
      </pc:sldChg>
      <pc:sldChg chg="modSp mod">
        <pc:chgData name="Octavio Santalucia" userId="bacb8c15-ec69-407c-a779-cefb28a37651" providerId="ADAL" clId="{0DFB3433-ED79-4118-85D4-485A82DEE246}" dt="2026-03-02T15:28:49.654" v="708" actId="20577"/>
        <pc:sldMkLst>
          <pc:docMk/>
          <pc:sldMk cId="3349930838" sldId="260"/>
        </pc:sldMkLst>
        <pc:spChg chg="mod">
          <ac:chgData name="Octavio Santalucia" userId="bacb8c15-ec69-407c-a779-cefb28a37651" providerId="ADAL" clId="{0DFB3433-ED79-4118-85D4-485A82DEE246}" dt="2026-03-02T14:35:55.210" v="1" actId="20577"/>
          <ac:spMkLst>
            <pc:docMk/>
            <pc:sldMk cId="3349930838" sldId="260"/>
            <ac:spMk id="2" creationId="{7138360F-9943-16E3-26B5-80BF5CD1C032}"/>
          </ac:spMkLst>
        </pc:spChg>
        <pc:spChg chg="mod">
          <ac:chgData name="Octavio Santalucia" userId="bacb8c15-ec69-407c-a779-cefb28a37651" providerId="ADAL" clId="{0DFB3433-ED79-4118-85D4-485A82DEE246}" dt="2026-03-02T15:28:49.654" v="708" actId="20577"/>
          <ac:spMkLst>
            <pc:docMk/>
            <pc:sldMk cId="3349930838" sldId="260"/>
            <ac:spMk id="3" creationId="{1B9CFBCD-9EC9-FD49-D482-9BBF172E9FC4}"/>
          </ac:spMkLst>
        </pc:spChg>
      </pc:sldChg>
      <pc:sldChg chg="modSp mod">
        <pc:chgData name="Octavio Santalucia" userId="bacb8c15-ec69-407c-a779-cefb28a37651" providerId="ADAL" clId="{0DFB3433-ED79-4118-85D4-485A82DEE246}" dt="2026-03-02T14:36:02.417" v="5" actId="20577"/>
        <pc:sldMkLst>
          <pc:docMk/>
          <pc:sldMk cId="1425946184" sldId="261"/>
        </pc:sldMkLst>
        <pc:spChg chg="mod">
          <ac:chgData name="Octavio Santalucia" userId="bacb8c15-ec69-407c-a779-cefb28a37651" providerId="ADAL" clId="{0DFB3433-ED79-4118-85D4-485A82DEE246}" dt="2026-03-02T14:36:02.417" v="5" actId="20577"/>
          <ac:spMkLst>
            <pc:docMk/>
            <pc:sldMk cId="1425946184" sldId="261"/>
            <ac:spMk id="2" creationId="{186282AB-A2B0-D945-4DD0-C80EE3776329}"/>
          </ac:spMkLst>
        </pc:spChg>
      </pc:sldChg>
      <pc:sldChg chg="modSp mod">
        <pc:chgData name="Octavio Santalucia" userId="bacb8c15-ec69-407c-a779-cefb28a37651" providerId="ADAL" clId="{0DFB3433-ED79-4118-85D4-485A82DEE246}" dt="2026-03-02T14:47:43.065" v="94" actId="20577"/>
        <pc:sldMkLst>
          <pc:docMk/>
          <pc:sldMk cId="447111845" sldId="263"/>
        </pc:sldMkLst>
        <pc:spChg chg="mod">
          <ac:chgData name="Octavio Santalucia" userId="bacb8c15-ec69-407c-a779-cefb28a37651" providerId="ADAL" clId="{0DFB3433-ED79-4118-85D4-485A82DEE246}" dt="2026-03-02T14:47:43.065" v="94" actId="20577"/>
          <ac:spMkLst>
            <pc:docMk/>
            <pc:sldMk cId="447111845" sldId="263"/>
            <ac:spMk id="2" creationId="{F7E55CA3-5339-82FA-708F-E5954C3FE528}"/>
          </ac:spMkLst>
        </pc:spChg>
      </pc:sldChg>
      <pc:sldChg chg="addSp delSp modSp mod">
        <pc:chgData name="Octavio Santalucia" userId="bacb8c15-ec69-407c-a779-cefb28a37651" providerId="ADAL" clId="{0DFB3433-ED79-4118-85D4-485A82DEE246}" dt="2026-03-16T14:39:59.649" v="1538" actId="27636"/>
        <pc:sldMkLst>
          <pc:docMk/>
          <pc:sldMk cId="232232442" sldId="264"/>
        </pc:sldMkLst>
        <pc:spChg chg="add mod">
          <ac:chgData name="Octavio Santalucia" userId="bacb8c15-ec69-407c-a779-cefb28a37651" providerId="ADAL" clId="{0DFB3433-ED79-4118-85D4-485A82DEE246}" dt="2026-03-16T14:39:59.649" v="1538" actId="27636"/>
          <ac:spMkLst>
            <pc:docMk/>
            <pc:sldMk cId="232232442" sldId="264"/>
            <ac:spMk id="9" creationId="{76A0C451-85A5-3700-8E28-A08AB0302A86}"/>
          </ac:spMkLst>
        </pc:spChg>
        <pc:spChg chg="add mod">
          <ac:chgData name="Octavio Santalucia" userId="bacb8c15-ec69-407c-a779-cefb28a37651" providerId="ADAL" clId="{0DFB3433-ED79-4118-85D4-485A82DEE246}" dt="2026-03-02T14:57:43.564" v="401" actId="1076"/>
          <ac:spMkLst>
            <pc:docMk/>
            <pc:sldMk cId="232232442" sldId="264"/>
            <ac:spMk id="10" creationId="{94CB3C70-F7D4-94E1-237C-744124A22BAE}"/>
          </ac:spMkLst>
        </pc:spChg>
      </pc:sldChg>
      <pc:sldChg chg="modSp mod">
        <pc:chgData name="Octavio Santalucia" userId="bacb8c15-ec69-407c-a779-cefb28a37651" providerId="ADAL" clId="{0DFB3433-ED79-4118-85D4-485A82DEE246}" dt="2026-03-02T14:36:05.038" v="7" actId="20577"/>
        <pc:sldMkLst>
          <pc:docMk/>
          <pc:sldMk cId="3611050075" sldId="265"/>
        </pc:sldMkLst>
        <pc:spChg chg="mod">
          <ac:chgData name="Octavio Santalucia" userId="bacb8c15-ec69-407c-a779-cefb28a37651" providerId="ADAL" clId="{0DFB3433-ED79-4118-85D4-485A82DEE246}" dt="2026-03-02T14:36:05.038" v="7" actId="20577"/>
          <ac:spMkLst>
            <pc:docMk/>
            <pc:sldMk cId="3611050075" sldId="265"/>
            <ac:spMk id="2" creationId="{186282AB-A2B0-D945-4DD0-C80EE3776329}"/>
          </ac:spMkLst>
        </pc:spChg>
      </pc:sldChg>
      <pc:sldChg chg="modSp mod">
        <pc:chgData name="Octavio Santalucia" userId="bacb8c15-ec69-407c-a779-cefb28a37651" providerId="ADAL" clId="{0DFB3433-ED79-4118-85D4-485A82DEE246}" dt="2026-03-02T15:22:32.127" v="585" actId="20577"/>
        <pc:sldMkLst>
          <pc:docMk/>
          <pc:sldMk cId="3852090953" sldId="266"/>
        </pc:sldMkLst>
        <pc:spChg chg="mod">
          <ac:chgData name="Octavio Santalucia" userId="bacb8c15-ec69-407c-a779-cefb28a37651" providerId="ADAL" clId="{0DFB3433-ED79-4118-85D4-485A82DEE246}" dt="2026-03-02T15:22:32.127" v="585" actId="20577"/>
          <ac:spMkLst>
            <pc:docMk/>
            <pc:sldMk cId="3852090953" sldId="266"/>
            <ac:spMk id="2" creationId="{186282AB-A2B0-D945-4DD0-C80EE3776329}"/>
          </ac:spMkLst>
        </pc:spChg>
      </pc:sldChg>
      <pc:sldChg chg="addSp delSp modSp mod">
        <pc:chgData name="Octavio Santalucia" userId="bacb8c15-ec69-407c-a779-cefb28a37651" providerId="ADAL" clId="{0DFB3433-ED79-4118-85D4-485A82DEE246}" dt="2026-03-16T14:39:51.334" v="1536" actId="27636"/>
        <pc:sldMkLst>
          <pc:docMk/>
          <pc:sldMk cId="1152975795" sldId="268"/>
        </pc:sldMkLst>
        <pc:spChg chg="mod">
          <ac:chgData name="Octavio Santalucia" userId="bacb8c15-ec69-407c-a779-cefb28a37651" providerId="ADAL" clId="{0DFB3433-ED79-4118-85D4-485A82DEE246}" dt="2026-03-16T14:39:51.334" v="1536" actId="27636"/>
          <ac:spMkLst>
            <pc:docMk/>
            <pc:sldMk cId="1152975795" sldId="268"/>
            <ac:spMk id="3" creationId="{6F1B2324-0B2B-4D1A-7611-21DCC96A1B69}"/>
          </ac:spMkLst>
        </pc:spChg>
      </pc:sldChg>
      <pc:sldChg chg="modSp mod">
        <pc:chgData name="Octavio Santalucia" userId="bacb8c15-ec69-407c-a779-cefb28a37651" providerId="ADAL" clId="{0DFB3433-ED79-4118-85D4-485A82DEE246}" dt="2026-03-02T14:35:57.814" v="3" actId="20577"/>
        <pc:sldMkLst>
          <pc:docMk/>
          <pc:sldMk cId="3409857225" sldId="269"/>
        </pc:sldMkLst>
        <pc:spChg chg="mod">
          <ac:chgData name="Octavio Santalucia" userId="bacb8c15-ec69-407c-a779-cefb28a37651" providerId="ADAL" clId="{0DFB3433-ED79-4118-85D4-485A82DEE246}" dt="2026-03-02T14:35:57.814" v="3" actId="20577"/>
          <ac:spMkLst>
            <pc:docMk/>
            <pc:sldMk cId="3409857225" sldId="269"/>
            <ac:spMk id="2" creationId="{69D1F20D-DD73-0388-797A-02EDD7F9F7AB}"/>
          </ac:spMkLst>
        </pc:spChg>
      </pc:sldChg>
      <pc:sldChg chg="addSp delSp modSp add mod ord delAnim">
        <pc:chgData name="Octavio Santalucia" userId="bacb8c15-ec69-407c-a779-cefb28a37651" providerId="ADAL" clId="{0DFB3433-ED79-4118-85D4-485A82DEE246}" dt="2026-03-02T15:04:04.064" v="467" actId="1076"/>
        <pc:sldMkLst>
          <pc:docMk/>
          <pc:sldMk cId="3700636345" sldId="270"/>
        </pc:sldMkLst>
        <pc:spChg chg="mod">
          <ac:chgData name="Octavio Santalucia" userId="bacb8c15-ec69-407c-a779-cefb28a37651" providerId="ADAL" clId="{0DFB3433-ED79-4118-85D4-485A82DEE246}" dt="2026-03-02T14:58:38.533" v="415" actId="20577"/>
          <ac:spMkLst>
            <pc:docMk/>
            <pc:sldMk cId="3700636345" sldId="270"/>
            <ac:spMk id="2" creationId="{5EDDCDAB-5F90-EEC5-808A-27A49E8B851C}"/>
          </ac:spMkLst>
        </pc:spChg>
        <pc:picChg chg="add mod">
          <ac:chgData name="Octavio Santalucia" userId="bacb8c15-ec69-407c-a779-cefb28a37651" providerId="ADAL" clId="{0DFB3433-ED79-4118-85D4-485A82DEE246}" dt="2026-03-02T15:04:04.064" v="467" actId="1076"/>
          <ac:picMkLst>
            <pc:docMk/>
            <pc:sldMk cId="3700636345" sldId="270"/>
            <ac:picMk id="15" creationId="{A0D14AC0-1BEA-4591-D039-AA639E44A01C}"/>
          </ac:picMkLst>
        </pc:picChg>
      </pc:sldChg>
      <pc:sldChg chg="addSp delSp modSp add mod">
        <pc:chgData name="Octavio Santalucia" userId="bacb8c15-ec69-407c-a779-cefb28a37651" providerId="ADAL" clId="{0DFB3433-ED79-4118-85D4-485A82DEE246}" dt="2026-03-02T15:05:48.880" v="577" actId="20577"/>
        <pc:sldMkLst>
          <pc:docMk/>
          <pc:sldMk cId="4096222495" sldId="271"/>
        </pc:sldMkLst>
        <pc:spChg chg="mod">
          <ac:chgData name="Octavio Santalucia" userId="bacb8c15-ec69-407c-a779-cefb28a37651" providerId="ADAL" clId="{0DFB3433-ED79-4118-85D4-485A82DEE246}" dt="2026-03-02T15:04:44.151" v="478" actId="20577"/>
          <ac:spMkLst>
            <pc:docMk/>
            <pc:sldMk cId="4096222495" sldId="271"/>
            <ac:spMk id="2" creationId="{CF711670-F851-F3F1-ACAA-701E11C3BB40}"/>
          </ac:spMkLst>
        </pc:spChg>
        <pc:spChg chg="add mod">
          <ac:chgData name="Octavio Santalucia" userId="bacb8c15-ec69-407c-a779-cefb28a37651" providerId="ADAL" clId="{0DFB3433-ED79-4118-85D4-485A82DEE246}" dt="2026-03-02T15:05:48.880" v="577" actId="20577"/>
          <ac:spMkLst>
            <pc:docMk/>
            <pc:sldMk cId="4096222495" sldId="271"/>
            <ac:spMk id="6" creationId="{B4F26F7E-B3A2-9C71-D60B-CF879A38F435}"/>
          </ac:spMkLst>
        </pc:spChg>
        <pc:picChg chg="add mod">
          <ac:chgData name="Octavio Santalucia" userId="bacb8c15-ec69-407c-a779-cefb28a37651" providerId="ADAL" clId="{0DFB3433-ED79-4118-85D4-485A82DEE246}" dt="2026-03-02T15:05:20.935" v="482" actId="1076"/>
          <ac:picMkLst>
            <pc:docMk/>
            <pc:sldMk cId="4096222495" sldId="271"/>
            <ac:picMk id="4" creationId="{F73183F2-DD03-C5DA-7FCE-94FB5CA0E353}"/>
          </ac:picMkLst>
        </pc:picChg>
      </pc:sldChg>
      <pc:sldChg chg="addSp delSp modSp add mod delAnim">
        <pc:chgData name="Octavio Santalucia" userId="bacb8c15-ec69-407c-a779-cefb28a37651" providerId="ADAL" clId="{0DFB3433-ED79-4118-85D4-485A82DEE246}" dt="2026-03-02T15:29:07.871" v="711" actId="20577"/>
        <pc:sldMkLst>
          <pc:docMk/>
          <pc:sldMk cId="2618463567" sldId="272"/>
        </pc:sldMkLst>
        <pc:spChg chg="mod">
          <ac:chgData name="Octavio Santalucia" userId="bacb8c15-ec69-407c-a779-cefb28a37651" providerId="ADAL" clId="{0DFB3433-ED79-4118-85D4-485A82DEE246}" dt="2026-03-02T15:29:07.871" v="711" actId="20577"/>
          <ac:spMkLst>
            <pc:docMk/>
            <pc:sldMk cId="2618463567" sldId="272"/>
            <ac:spMk id="2" creationId="{A3371939-5BB5-16B8-3ACD-DA8BAE1C101B}"/>
          </ac:spMkLst>
        </pc:spChg>
        <pc:picChg chg="add mod">
          <ac:chgData name="Octavio Santalucia" userId="bacb8c15-ec69-407c-a779-cefb28a37651" providerId="ADAL" clId="{0DFB3433-ED79-4118-85D4-485A82DEE246}" dt="2026-03-02T15:22:54.897" v="603" actId="1076"/>
          <ac:picMkLst>
            <pc:docMk/>
            <pc:sldMk cId="2618463567" sldId="272"/>
            <ac:picMk id="8" creationId="{9D757A90-597E-7750-4431-B6E035CB9358}"/>
          </ac:picMkLst>
        </pc:picChg>
      </pc:sldChg>
      <pc:sldChg chg="addSp delSp modSp add mod">
        <pc:chgData name="Octavio Santalucia" userId="bacb8c15-ec69-407c-a779-cefb28a37651" providerId="ADAL" clId="{0DFB3433-ED79-4118-85D4-485A82DEE246}" dt="2026-03-02T15:35:33.798" v="1532" actId="114"/>
        <pc:sldMkLst>
          <pc:docMk/>
          <pc:sldMk cId="791371052" sldId="273"/>
        </pc:sldMkLst>
        <pc:spChg chg="mod">
          <ac:chgData name="Octavio Santalucia" userId="bacb8c15-ec69-407c-a779-cefb28a37651" providerId="ADAL" clId="{0DFB3433-ED79-4118-85D4-485A82DEE246}" dt="2026-03-02T15:29:48.159" v="753" actId="20577"/>
          <ac:spMkLst>
            <pc:docMk/>
            <pc:sldMk cId="791371052" sldId="273"/>
            <ac:spMk id="2" creationId="{8FA6B25B-82C8-573A-26A8-8CE3FEB2DA06}"/>
          </ac:spMkLst>
        </pc:spChg>
        <pc:spChg chg="add mod">
          <ac:chgData name="Octavio Santalucia" userId="bacb8c15-ec69-407c-a779-cefb28a37651" providerId="ADAL" clId="{0DFB3433-ED79-4118-85D4-485A82DEE246}" dt="2026-03-02T15:35:33.798" v="1532" actId="114"/>
          <ac:spMkLst>
            <pc:docMk/>
            <pc:sldMk cId="791371052" sldId="273"/>
            <ac:spMk id="7" creationId="{211ACE7C-B981-E54F-D95F-C944A7F87A58}"/>
          </ac:spMkLst>
        </pc:spChg>
        <pc:picChg chg="add mod">
          <ac:chgData name="Octavio Santalucia" userId="bacb8c15-ec69-407c-a779-cefb28a37651" providerId="ADAL" clId="{0DFB3433-ED79-4118-85D4-485A82DEE246}" dt="2026-03-02T15:34:37.370" v="1423" actId="1076"/>
          <ac:picMkLst>
            <pc:docMk/>
            <pc:sldMk cId="791371052" sldId="273"/>
            <ac:picMk id="4" creationId="{E958A840-5A9A-EC15-64A0-B0393F8A95A0}"/>
          </ac:picMkLst>
        </pc:picChg>
        <pc:picChg chg="add mod">
          <ac:chgData name="Octavio Santalucia" userId="bacb8c15-ec69-407c-a779-cefb28a37651" providerId="ADAL" clId="{0DFB3433-ED79-4118-85D4-485A82DEE246}" dt="2026-03-02T15:32:20.431" v="1024" actId="1076"/>
          <ac:picMkLst>
            <pc:docMk/>
            <pc:sldMk cId="791371052" sldId="273"/>
            <ac:picMk id="6" creationId="{B687F183-A522-40EF-0108-BEFE17982AC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5DF126-887C-B2A3-4BA1-0AAD8AC604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E932D1-29D7-5E65-68A7-F8F8146529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F38742-5234-28F5-85F1-382322F0A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67D96-C20B-4F01-AFF1-DD3AAAFD0289}" type="datetimeFigureOut">
              <a:rPr lang="es-419" smtClean="0"/>
              <a:t>16/3/2026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8BA3C5-AB2A-68FE-B44E-9D66BF0FE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4DDE9B-4DAC-3989-1C8D-6D465FFC0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F90E9-6CAB-4AF8-AB53-3CFD7726756A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17836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A660E2-2E38-7281-C1B9-0CA6136EE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98063B-29AE-66A5-33F4-F322ED7E6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108B86-D226-7D21-EF87-9C47B77D5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67D96-C20B-4F01-AFF1-DD3AAAFD0289}" type="datetimeFigureOut">
              <a:rPr lang="es-419" smtClean="0"/>
              <a:t>16/3/2026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7E1B07-4B79-8E07-702B-2FE95C2C5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C6E81B-56AF-4726-3463-A702DC1FA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F90E9-6CAB-4AF8-AB53-3CFD7726756A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306595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2CF2C0-727C-03DC-925C-464689799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07A4E63-C55B-5545-43E3-ECC51CD18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BD04B19-CB62-6913-2228-4DC1DFB5C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67D96-C20B-4F01-AFF1-DD3AAAFD0289}" type="datetimeFigureOut">
              <a:rPr lang="es-419" smtClean="0"/>
              <a:t>16/3/2026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C0B183-CD27-3E16-83AB-00BF34F5F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FCC16B-3430-46F6-C554-CF6967F9A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F90E9-6CAB-4AF8-AB53-3CFD7726756A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893840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4F651C-7B96-446C-BFD4-6B622F487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31F72E-1A42-BDB1-FB29-3E7BAD3DD8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D981477-C6E2-F225-A3CA-ECBF96692A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8B3303-3135-4850-EBC1-91ECC2FBD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67D96-C20B-4F01-AFF1-DD3AAAFD0289}" type="datetimeFigureOut">
              <a:rPr lang="es-419" smtClean="0"/>
              <a:t>16/3/2026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EF0F9F4-D210-45C5-5D81-02F6F57CF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F38CBB6-556C-B21C-461B-0449CFBCD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F90E9-6CAB-4AF8-AB53-3CFD7726756A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126275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D23DCA-2846-316D-1B59-521218C64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A1E52D7-52DC-552D-99EA-2BD6B1FEF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11ED4A5-FCE0-2E85-8186-8F30749D94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BDB6FE2-0095-93CD-4D74-2DF2F6CCAF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8646C19-0AA3-171D-A7C7-3B16E98669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F5EE2D4-44C3-5E90-CAE1-65E76DB67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67D96-C20B-4F01-AFF1-DD3AAAFD0289}" type="datetimeFigureOut">
              <a:rPr lang="es-419" smtClean="0"/>
              <a:t>16/3/2026</a:t>
            </a:fld>
            <a:endParaRPr lang="es-419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80ED4FC-63BB-F4CE-F947-195CD8C86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37D4A70-DB28-62E1-A9D0-C49EEC00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F90E9-6CAB-4AF8-AB53-3CFD7726756A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865172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86D1DA-2EC5-5F29-9F81-654E55C0A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633678F-56DA-9725-8EFF-331EE81D5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67D96-C20B-4F01-AFF1-DD3AAAFD0289}" type="datetimeFigureOut">
              <a:rPr lang="es-419" smtClean="0"/>
              <a:t>16/3/2026</a:t>
            </a:fld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15BEB6E-66AB-A305-8EE3-AA07D1D86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85F522E-5E9A-11BC-5A51-E06A6ACE9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F90E9-6CAB-4AF8-AB53-3CFD7726756A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955890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3504208-BC96-09C6-5E69-E0287E0F7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67D96-C20B-4F01-AFF1-DD3AAAFD0289}" type="datetimeFigureOut">
              <a:rPr lang="es-419" smtClean="0"/>
              <a:t>16/3/2026</a:t>
            </a:fld>
            <a:endParaRPr lang="es-419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6FEDDA1-F495-7442-F4CB-1ACFE9DCF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A8354C-E62A-8E7C-FA88-33E07A950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F90E9-6CAB-4AF8-AB53-3CFD7726756A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400142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AABA76-C07A-C7A2-B789-34A1BF0E8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5A0E62-BA21-D8EB-D9EA-A5AFB20F3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321A4A-12D2-3F18-B7C8-A0DD0327B2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A733405-6095-7F92-184A-EC5B6081C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67D96-C20B-4F01-AFF1-DD3AAAFD0289}" type="datetimeFigureOut">
              <a:rPr lang="es-419" smtClean="0"/>
              <a:t>16/3/2026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D579493-98F8-BEF5-0194-F6EDCC9D3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7A2088-0AC4-9561-844C-A305DCF6B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F90E9-6CAB-4AF8-AB53-3CFD7726756A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389631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2CE07F-5EA0-88D5-CD93-AC3C4A7BA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4E709D2-843A-DF58-0965-49CD9FBADB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9B2F939-E470-F2FF-1097-C1559EDC0D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68A27C5-0D16-AC87-A463-AC654BBAC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67D96-C20B-4F01-AFF1-DD3AAAFD0289}" type="datetimeFigureOut">
              <a:rPr lang="es-419" smtClean="0"/>
              <a:t>16/3/2026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157F1BD-0DAD-E03A-F9A1-DDD20E54E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0663D08-86E7-9E1E-72A0-E76BDB3F2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F90E9-6CAB-4AF8-AB53-3CFD7726756A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549425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590249-CCB6-B1CC-2138-133238ED4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C447F9D-7545-3E57-2C21-CACE162A5E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278632-888F-81C7-A3C6-7E7689F92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67D96-C20B-4F01-AFF1-DD3AAAFD0289}" type="datetimeFigureOut">
              <a:rPr lang="es-419" smtClean="0"/>
              <a:t>16/3/2026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F8C025-F754-66A1-C85D-A448B9F50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121603-4305-7492-A174-8747DBF1F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F90E9-6CAB-4AF8-AB53-3CFD7726756A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783148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BD6EA8C-11D7-087F-E0C4-976FADA6AC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37F3158-D5CE-0D38-104E-8B0B9A4AEE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97E7C0-C30C-FC47-166B-6E3C8276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67D96-C20B-4F01-AFF1-DD3AAAFD0289}" type="datetimeFigureOut">
              <a:rPr lang="es-419" smtClean="0"/>
              <a:t>16/3/2026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E1C8D9-1559-114F-2644-B7313D1FC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9194FA-49B0-FF5D-DAA7-84D54FE34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F90E9-6CAB-4AF8-AB53-3CFD7726756A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909147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720C860-432D-D523-BFA5-471CEB63A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F76E7B7-BFC3-AA8F-DF8C-E160FFFA3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B424FA-6149-EBCB-778A-18DE84A98A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B67D96-C20B-4F01-AFF1-DD3AAAFD0289}" type="datetimeFigureOut">
              <a:rPr lang="es-419" smtClean="0"/>
              <a:t>16/3/2026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5777A5-FA72-F5EA-0A87-3A08C6D882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5B4B6DB-824E-BE6A-07C6-4111656D6B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FF90E9-6CAB-4AF8-AB53-3CFD7726756A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932546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D3BAFD-1F50-E51D-F889-40B9CCAB08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Ejercicios</a:t>
            </a:r>
            <a:r>
              <a:rPr lang="en-US" dirty="0"/>
              <a:t> </a:t>
            </a:r>
            <a:r>
              <a:rPr lang="en-US" dirty="0" err="1"/>
              <a:t>Propuestos</a:t>
            </a:r>
            <a:br>
              <a:rPr lang="en-US" dirty="0"/>
            </a:br>
            <a:r>
              <a:rPr lang="en-US" dirty="0" err="1"/>
              <a:t>Propiedades</a:t>
            </a:r>
            <a:r>
              <a:rPr lang="en-US" dirty="0"/>
              <a:t> de </a:t>
            </a:r>
            <a:r>
              <a:rPr lang="en-US" dirty="0" err="1"/>
              <a:t>estimadores</a:t>
            </a:r>
            <a:endParaRPr lang="es-419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534B41F-C704-4A02-2FF7-294020D234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Econometría</a:t>
            </a:r>
            <a:r>
              <a:rPr lang="en-US" dirty="0"/>
              <a:t> 2025</a:t>
            </a:r>
          </a:p>
          <a:p>
            <a:r>
              <a:rPr lang="en-US" dirty="0"/>
              <a:t>Jeffrey M. Wooldridge - Introductory Econometrics p.744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528463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F7FE4E-224D-2C2B-08B7-413EA6652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 </a:t>
            </a:r>
            <a:r>
              <a:rPr lang="en-US" err="1"/>
              <a:t>Enunciado</a:t>
            </a:r>
            <a:endParaRPr lang="es-419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AE92D6A-AEB6-C787-4419-E2EDECCDC6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97082" y="1932050"/>
                <a:ext cx="10222371" cy="4411600"/>
              </a:xfrm>
            </p:spPr>
            <p:txBody>
              <a:bodyPr>
                <a:normAutofit fontScale="25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AR" sz="9600" b="0" i="0" smtClean="0">
                          <a:latin typeface="Cambria Math" panose="02040503050406030204" pitchFamily="18" charset="0"/>
                        </a:rPr>
                        <m:t>Poblaci</m:t>
                      </m:r>
                      <m:r>
                        <a:rPr lang="es-AR" sz="9600" b="0" i="0" smtClean="0">
                          <a:latin typeface="Cambria Math" panose="02040503050406030204" pitchFamily="18" charset="0"/>
                        </a:rPr>
                        <m:t>ó</m:t>
                      </m:r>
                      <m:r>
                        <m:rPr>
                          <m:sty m:val="p"/>
                        </m:rPr>
                        <a:rPr lang="es-AR" sz="9600" b="0" i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s-AR" sz="9600" b="0" i="0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s-AR" sz="9600">
                          <a:latin typeface="Cambria Math" panose="02040503050406030204" pitchFamily="18" charset="0"/>
                        </a:rPr>
                        <m:t>𝑀𝑒𝑑𝑖𝑎</m:t>
                      </m:r>
                      <m:r>
                        <a:rPr lang="es-AR" sz="9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sz="960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s-AR" sz="960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s-AR" sz="9600">
                          <a:latin typeface="Cambria Math" panose="02040503050406030204" pitchFamily="18" charset="0"/>
                        </a:rPr>
                        <m:t>𝑉𝑎𝑟𝑖𝑎𝑛𝑧𝑎</m:t>
                      </m:r>
                      <m:r>
                        <a:rPr lang="es-AR" sz="96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AR" sz="9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960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s-AR" sz="96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419" sz="9600" dirty="0"/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9600" b="0" dirty="0" err="1"/>
                  <a:t>Muestra</a:t>
                </a:r>
                <a:r>
                  <a:rPr lang="en-US" sz="9600" dirty="0"/>
                  <a:t>:</a:t>
                </a:r>
                <a:r>
                  <a:rPr lang="en-US" sz="9600" b="0" dirty="0"/>
                  <a:t> 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6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9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9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9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6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9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9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9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6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9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9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9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6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9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s-AR" sz="9600" b="0" dirty="0"/>
                  <a:t>]</a:t>
                </a:r>
              </a:p>
              <a:p>
                <a:pPr marL="0" indent="0">
                  <a:buNone/>
                </a:pPr>
                <a:r>
                  <a:rPr lang="es-AR" sz="9600" dirty="0"/>
                  <a:t>Estimadores:</a:t>
                </a:r>
                <a:endParaRPr lang="es-AR" sz="9600" b="0" dirty="0"/>
              </a:p>
              <a:p>
                <a:pPr marL="0" indent="0" algn="ctr">
                  <a:buNone/>
                </a:pPr>
                <a:br>
                  <a:rPr lang="es-AR" sz="9600" b="0" dirty="0"/>
                </a:b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s-AR" sz="96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s-AR" sz="96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bar>
                  </m:oMath>
                </a14:m>
                <a:r>
                  <a:rPr lang="es-419" sz="9600" dirty="0"/>
                  <a:t>= ¼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6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9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AR" sz="9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9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6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9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AR" sz="9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9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6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9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s-AR" sz="9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9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6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9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s-419" sz="9600" dirty="0"/>
                  <a:t>)</a:t>
                </a:r>
              </a:p>
              <a:p>
                <a:pPr marL="0" indent="0" algn="ctr">
                  <a:buNone/>
                </a:pPr>
                <a:endParaRPr lang="es-419" sz="9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sz="960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𝑊</m:t>
                      </m:r>
                      <m:r>
                        <a:rPr lang="es-419" sz="960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sz="96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419" sz="96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419" sz="96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8</m:t>
                          </m:r>
                        </m:den>
                      </m:f>
                      <m:sSub>
                        <m:sSubPr>
                          <m:ctrlPr>
                            <a:rPr lang="es-419" sz="96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419" sz="96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s-419" sz="96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419" sz="96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s-419" sz="96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419" sz="96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419" sz="96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8</m:t>
                          </m:r>
                        </m:den>
                      </m:f>
                      <m:sSub>
                        <m:sSubPr>
                          <m:ctrlPr>
                            <a:rPr lang="es-419" sz="96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419" sz="96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s-419" sz="96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s-419" sz="96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s-419" sz="96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419" sz="96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419" sz="96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4</m:t>
                          </m:r>
                        </m:den>
                      </m:f>
                      <m:sSub>
                        <m:sSubPr>
                          <m:ctrlPr>
                            <a:rPr lang="es-419" sz="96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419" sz="96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s-419" sz="96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s-419" sz="96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s-419" sz="96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419" sz="96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419" sz="96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s-419" sz="96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419" sz="96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s-419" sz="96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s-419" sz="9600" dirty="0"/>
              </a:p>
              <a:p>
                <a:pPr marL="1371600" indent="-1371600">
                  <a:buAutoNum type="romanLcParenBoth"/>
                </a:pPr>
                <a:r>
                  <a:rPr lang="es-419" sz="9600" dirty="0"/>
                  <a:t>Hallar el valor y varianza esperados de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s-AR" sz="96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s-AR" sz="96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bar>
                  </m:oMath>
                </a14:m>
                <a:r>
                  <a:rPr lang="es-419" sz="9600" dirty="0"/>
                  <a:t> (en términos de </a:t>
                </a:r>
                <a14:m>
                  <m:oMath xmlns:m="http://schemas.openxmlformats.org/officeDocument/2006/math">
                    <m:r>
                      <a:rPr lang="es-AR" sz="96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s-419" sz="9600" dirty="0"/>
                  <a:t> 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AR" sz="9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960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AR" sz="96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419" sz="9600" dirty="0"/>
                  <a:t>)</a:t>
                </a:r>
              </a:p>
              <a:p>
                <a:pPr marL="1371600" indent="-1371600">
                  <a:buAutoNum type="romanLcParenBoth"/>
                </a:pPr>
                <a:r>
                  <a:rPr lang="es-419" sz="9600" dirty="0"/>
                  <a:t>Hallar el valor y varianza esperados de W (en términos de </a:t>
                </a:r>
                <a14:m>
                  <m:oMath xmlns:m="http://schemas.openxmlformats.org/officeDocument/2006/math">
                    <m:r>
                      <a:rPr lang="es-AR" sz="9600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s-419" sz="9600" dirty="0"/>
                  <a:t> 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AR" sz="9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960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AR" sz="96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AR" sz="96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AR" sz="9600" b="0" dirty="0"/>
              </a:p>
              <a:p>
                <a:pPr marL="1371600" indent="-1371600">
                  <a:buAutoNum type="romanLcParenBoth"/>
                </a:pPr>
                <a:r>
                  <a:rPr lang="es-AR" sz="9600" b="0" dirty="0"/>
                  <a:t>¿Cuál estimador preferís?</a:t>
                </a:r>
              </a:p>
              <a:p>
                <a:pPr marL="0" indent="0">
                  <a:buNone/>
                </a:pPr>
                <a:endParaRPr lang="es-419" sz="80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s-419" sz="9600" dirty="0"/>
              </a:p>
              <a:p>
                <a:pPr marL="0" indent="0">
                  <a:buNone/>
                </a:pPr>
                <a:endParaRPr lang="es-419" dirty="0"/>
              </a:p>
              <a:p>
                <a:pPr marL="0" indent="0">
                  <a:buNone/>
                </a:pPr>
                <a:endParaRPr lang="es-419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AE92D6A-AEB6-C787-4419-E2EDECCDC6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97082" y="1932050"/>
                <a:ext cx="10222371" cy="4411600"/>
              </a:xfrm>
              <a:blipFill>
                <a:blip r:embed="rId2"/>
                <a:stretch>
                  <a:fillRect l="-954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8941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71896-BD2E-5791-319D-E64C8C921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A3093-500F-A789-1812-3EB02A1A2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Propiedades útiles</a:t>
            </a:r>
            <a:endParaRPr lang="es-419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F1B2324-0B2B-4D1A-7611-21DCC96A1B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166350" cy="2206625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s-AR" sz="1600" i="1" kern="100" dirty="0">
                    <a:latin typeface="Cambria Math" panose="020405030504060302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Propiedades de la esperanza</a:t>
                </a:r>
                <a:endParaRPr lang="es-AR" sz="1600" b="0" i="1" kern="100" dirty="0"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AR" sz="16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419" sz="16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s-419" sz="1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419" sz="1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s-419" sz="1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⋅</m:t>
                        </m:r>
                        <m:r>
                          <a:rPr lang="es-419" sz="1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  <m:r>
                      <a:rPr lang="es-419" sz="16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419" sz="16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s-419" sz="16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⋅</m:t>
                    </m:r>
                    <m:r>
                      <a:rPr lang="es-419" sz="16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s-419" sz="1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419" sz="1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s-AR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AR" sz="1600" b="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419" sz="160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𝑠𝑖</m:t>
                    </m:r>
                    <m:r>
                      <a:rPr lang="es-419" sz="160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s-419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419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s-419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s-419" sz="16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s-419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419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s-419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s-419" sz="16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419" sz="16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𝑖𝑛𝑑𝑒𝑝𝑒𝑛𝑑𝑖𝑒𝑛𝑡𝑒𝑠</m:t>
                    </m:r>
                    <m:r>
                      <a:rPr lang="es-AR" sz="1600" b="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s-419" sz="16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s-419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419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419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419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419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s-419" sz="16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419" sz="16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s-419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419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s-419" sz="16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s-419" sz="16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s-419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419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s-AR" sz="1600" kern="100" dirty="0"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s-419" sz="1600" i="1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Propiedades de la varianza</a:t>
                </a:r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r>
                      <a:rPr lang="es-AR" sz="1600" b="0" i="1" kern="10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𝑉𝑎𝑟</m:t>
                    </m:r>
                    <m:d>
                      <m:dPr>
                        <m:ctrlPr>
                          <a:rPr lang="es-419" sz="16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419" sz="16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s-419" sz="16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⋅</m:t>
                        </m:r>
                        <m:r>
                          <a:rPr lang="es-419" sz="16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  <m:r>
                      <a:rPr lang="es-419" sz="16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s-AR" sz="1600" b="0" i="1" kern="10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419" sz="16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s-AR" sz="1600" b="0" i="1" kern="10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s-419" sz="16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⋅</m:t>
                    </m:r>
                    <m:r>
                      <a:rPr lang="es-AR" sz="1600" b="0" i="1" kern="10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𝑉𝑎𝑟</m:t>
                    </m:r>
                    <m:d>
                      <m:dPr>
                        <m:ctrlPr>
                          <a:rPr lang="es-419" sz="16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419" sz="16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s-419" sz="1600" i="1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14:m>
                  <m:oMath xmlns:m="http://schemas.openxmlformats.org/officeDocument/2006/math">
                    <m:r>
                      <a:rPr lang="es-419" sz="1600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𝑠𝑖</m:t>
                    </m:r>
                    <m:r>
                      <a:rPr lang="es-419" sz="1600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s-419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419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s-419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s-419" sz="1600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s-419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419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s-419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s-419" sz="1600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419" sz="1600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𝑖𝑛𝑑𝑒𝑝𝑒𝑛𝑑𝑖𝑒𝑛𝑡𝑒𝑠</m:t>
                    </m:r>
                    <m:r>
                      <a:rPr lang="es-AR" sz="1600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s-AR" sz="1600" b="0" i="1" kern="10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𝑉𝑎𝑟</m:t>
                    </m:r>
                    <m:d>
                      <m:dPr>
                        <m:ctrlPr>
                          <a:rPr lang="es-419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419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419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419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419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s-419" sz="1600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AR" sz="1600" b="0" i="1" kern="10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𝑉𝑎𝑟</m:t>
                    </m:r>
                    <m:d>
                      <m:dPr>
                        <m:ctrlPr>
                          <a:rPr lang="es-419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419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s-419" sz="1600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s-AR" sz="1600" b="0" i="1" kern="10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𝑉𝑎𝑟</m:t>
                    </m:r>
                    <m:d>
                      <m:dPr>
                        <m:ctrlPr>
                          <a:rPr lang="es-419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419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s-419" sz="1600" i="1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AutoNum type="arabicPeriod"/>
                </a:pPr>
                <a:endParaRPr lang="es-419" sz="1600" i="1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s-419" sz="1600" i="1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s-AR" kern="1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419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s-419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419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s-419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419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endParaRPr lang="es-419" kern="100" dirty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endParaRPr lang="es-419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F1B2324-0B2B-4D1A-7611-21DCC96A1B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166350" cy="2206625"/>
              </a:xfrm>
              <a:blipFill>
                <a:blip r:embed="rId2"/>
                <a:stretch>
                  <a:fillRect l="-420" t="-1657" b="-138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2975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Marcador de contenido 2">
                <a:extLst>
                  <a:ext uri="{FF2B5EF4-FFF2-40B4-BE49-F238E27FC236}">
                    <a16:creationId xmlns:a16="http://schemas.microsoft.com/office/drawing/2014/main" id="{76A0C451-85A5-3700-8E28-A08AB0302A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4050" y="4441825"/>
                <a:ext cx="10166350" cy="2206625"/>
              </a:xfrm>
              <a:ln>
                <a:solidFill>
                  <a:schemeClr val="accent1"/>
                </a:solidFill>
              </a:ln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AR" sz="1600" i="1" kern="100" dirty="0">
                    <a:latin typeface="Cambria Math" panose="020405030504060302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Propiedades de la esperanza</a:t>
                </a:r>
                <a:endParaRPr lang="es-AR" sz="1600" b="0" i="1" kern="100" dirty="0"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AR" sz="16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419" sz="16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s-419" sz="1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419" sz="1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s-419" sz="1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⋅</m:t>
                        </m:r>
                        <m:r>
                          <a:rPr lang="es-419" sz="1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  <m:r>
                      <a:rPr lang="es-419" sz="16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419" sz="16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s-419" sz="16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⋅</m:t>
                    </m:r>
                    <m:r>
                      <a:rPr lang="es-419" sz="16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s-419" sz="1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419" sz="1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s-AR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AR" sz="1600" b="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419" sz="160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𝑠𝑖</m:t>
                    </m:r>
                    <m:r>
                      <a:rPr lang="es-419" sz="160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s-419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419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s-419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s-419" sz="16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s-419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419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s-419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s-419" sz="16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419" sz="16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𝑖𝑛𝑑𝑒𝑝𝑒𝑛𝑑𝑖𝑒𝑛𝑡𝑒𝑠</m:t>
                    </m:r>
                    <m:r>
                      <a:rPr lang="es-AR" sz="1600" b="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s-419" sz="16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s-419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419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419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419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419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s-419" sz="16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419" sz="16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s-419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419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s-419" sz="16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s-419" sz="16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s-419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419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s-AR" sz="1600" kern="100" dirty="0"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s-419" sz="1600" i="1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Propiedades de la varianza</a:t>
                </a:r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r>
                      <a:rPr lang="es-AR" sz="1600" b="0" i="1" kern="10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𝑉𝑎𝑟</m:t>
                    </m:r>
                    <m:d>
                      <m:dPr>
                        <m:ctrlPr>
                          <a:rPr lang="es-419" sz="16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419" sz="16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s-419" sz="16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⋅</m:t>
                        </m:r>
                        <m:r>
                          <a:rPr lang="es-419" sz="16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  <m:r>
                      <a:rPr lang="es-419" sz="16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s-AR" sz="1600" b="0" i="1" kern="10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419" sz="16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s-AR" sz="1600" b="0" i="1" kern="10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s-419" sz="16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⋅</m:t>
                    </m:r>
                    <m:r>
                      <a:rPr lang="es-AR" sz="1600" b="0" i="1" kern="10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𝑉𝑎𝑟</m:t>
                    </m:r>
                    <m:d>
                      <m:dPr>
                        <m:ctrlPr>
                          <a:rPr lang="es-419" sz="16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419" sz="16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s-419" sz="1600" i="1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14:m>
                  <m:oMath xmlns:m="http://schemas.openxmlformats.org/officeDocument/2006/math">
                    <m:r>
                      <a:rPr lang="es-419" sz="1600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𝑠𝑖</m:t>
                    </m:r>
                    <m:r>
                      <a:rPr lang="es-419" sz="1600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s-419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419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s-419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s-419" sz="1600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s-419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419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s-419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s-419" sz="1600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419" sz="1600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𝑖𝑛𝑑𝑒𝑝𝑒𝑛𝑑𝑖𝑒𝑛𝑡𝑒𝑠</m:t>
                    </m:r>
                    <m:r>
                      <a:rPr lang="es-AR" sz="1600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s-AR" sz="1600" b="0" i="1" kern="10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𝑉𝑎𝑟</m:t>
                    </m:r>
                    <m:d>
                      <m:dPr>
                        <m:ctrlPr>
                          <a:rPr lang="es-419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419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419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419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419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s-419" sz="1600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AR" sz="1600" b="0" i="1" kern="10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𝑉𝑎𝑟</m:t>
                    </m:r>
                    <m:d>
                      <m:dPr>
                        <m:ctrlPr>
                          <a:rPr lang="es-419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419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s-419" sz="1600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s-AR" sz="1600" b="0" i="1" kern="10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𝑉𝑎𝑟</m:t>
                    </m:r>
                    <m:d>
                      <m:dPr>
                        <m:ctrlPr>
                          <a:rPr lang="es-419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419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s-419" sz="1600" i="1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AutoNum type="arabicPeriod"/>
                </a:pPr>
                <a:endParaRPr lang="es-419" sz="1600" i="1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s-419" sz="1600" i="1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s-419" dirty="0"/>
              </a:p>
            </p:txBody>
          </p:sp>
        </mc:Choice>
        <mc:Fallback>
          <p:sp>
            <p:nvSpPr>
              <p:cNvPr id="9" name="Marcador de contenido 2">
                <a:extLst>
                  <a:ext uri="{FF2B5EF4-FFF2-40B4-BE49-F238E27FC236}">
                    <a16:creationId xmlns:a16="http://schemas.microsoft.com/office/drawing/2014/main" id="{76A0C451-85A5-3700-8E28-A08AB0302A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4050" y="4441825"/>
                <a:ext cx="10166350" cy="2206625"/>
              </a:xfrm>
              <a:blipFill>
                <a:blip r:embed="rId2"/>
                <a:stretch>
                  <a:fillRect l="-240" t="-192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Marcador de contenido 2">
                <a:extLst>
                  <a:ext uri="{FF2B5EF4-FFF2-40B4-BE49-F238E27FC236}">
                    <a16:creationId xmlns:a16="http://schemas.microsoft.com/office/drawing/2014/main" id="{94CB3C70-F7D4-94E1-237C-744124A22BA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4050" y="600900"/>
                <a:ext cx="8936653" cy="363055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AR" sz="1600" b="0" i="0" smtClean="0">
                          <a:latin typeface="Cambria Math" panose="02040503050406030204" pitchFamily="18" charset="0"/>
                        </a:rPr>
                        <m:t>1) </m:t>
                      </m:r>
                      <m:r>
                        <m:rPr>
                          <m:sty m:val="p"/>
                        </m:rPr>
                        <a:rPr lang="es-AR" sz="1600" smtClean="0">
                          <a:latin typeface="Cambria Math" panose="02040503050406030204" pitchFamily="18" charset="0"/>
                        </a:rPr>
                        <m:t>Poblaci</m:t>
                      </m:r>
                      <m:r>
                        <a:rPr lang="es-AR" sz="1600" smtClean="0">
                          <a:latin typeface="Cambria Math" panose="02040503050406030204" pitchFamily="18" charset="0"/>
                        </a:rPr>
                        <m:t>ó</m:t>
                      </m:r>
                      <m:r>
                        <m:rPr>
                          <m:sty m:val="p"/>
                        </m:rPr>
                        <a:rPr lang="es-AR" sz="160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s-AR" sz="1600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s-AR" sz="1600">
                          <a:latin typeface="Cambria Math" panose="02040503050406030204" pitchFamily="18" charset="0"/>
                        </a:rPr>
                        <m:t>𝑀𝑒𝑑𝑖𝑎</m:t>
                      </m:r>
                      <m:r>
                        <a:rPr lang="es-AR" sz="1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sz="160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s-AR" sz="160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s-AR" sz="1600">
                          <a:latin typeface="Cambria Math" panose="02040503050406030204" pitchFamily="18" charset="0"/>
                        </a:rPr>
                        <m:t>𝑉𝑎𝑟𝑖𝑎𝑛𝑧𝑎</m:t>
                      </m:r>
                      <m:r>
                        <a:rPr lang="es-AR" sz="16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AR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160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s-AR" sz="16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419" sz="16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400" i="1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600" dirty="0" err="1"/>
                  <a:t>Muestra</a:t>
                </a:r>
                <a:r>
                  <a:rPr lang="en-US" sz="1600" dirty="0"/>
                  <a:t>: 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60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s-AR" sz="1600" dirty="0"/>
                  <a:t>]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s-AR" sz="1600" dirty="0"/>
                  <a:t>Estimadores:</a:t>
                </a:r>
              </a:p>
              <a:p>
                <a:pPr marL="0" indent="0" algn="ctr">
                  <a:buFont typeface="Arial" panose="020B0604020202020204" pitchFamily="34" charset="0"/>
                  <a:buNone/>
                </a:pPr>
                <a:br>
                  <a:rPr lang="es-AR" sz="1600" dirty="0"/>
                </a:b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s-AR" sz="16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s-AR" sz="160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bar>
                  </m:oMath>
                </a14:m>
                <a:r>
                  <a:rPr lang="es-419" sz="1600" dirty="0"/>
                  <a:t>= ¼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AR" sz="160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AR" sz="160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s-AR" sz="160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s-419" sz="1600" dirty="0"/>
                  <a:t>)</a:t>
                </a:r>
              </a:p>
              <a:p>
                <a:pPr marL="0" indent="0" algn="ctr">
                  <a:buFont typeface="Arial" panose="020B0604020202020204" pitchFamily="34" charset="0"/>
                  <a:buNone/>
                </a:pPr>
                <a:endParaRPr lang="es-419" sz="16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sz="1600" i="1" kern="100" smtClean="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𝑊</m:t>
                      </m:r>
                      <m:r>
                        <a:rPr lang="es-419" sz="1600" i="1" kern="100" smtClean="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419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419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8</m:t>
                          </m:r>
                        </m:den>
                      </m:f>
                      <m:sSub>
                        <m:sSubPr>
                          <m:ctrlPr>
                            <a:rPr lang="es-419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419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s-419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419" sz="1600" i="1" kern="10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s-419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419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419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8</m:t>
                          </m:r>
                        </m:den>
                      </m:f>
                      <m:sSub>
                        <m:sSubPr>
                          <m:ctrlPr>
                            <a:rPr lang="es-419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419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s-419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s-419" sz="1600" i="1" kern="10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s-419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419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419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4</m:t>
                          </m:r>
                        </m:den>
                      </m:f>
                      <m:sSub>
                        <m:sSubPr>
                          <m:ctrlPr>
                            <a:rPr lang="es-419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419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s-419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s-419" sz="1600" i="1" kern="10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s-419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419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419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s-419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419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s-419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s-419" sz="1600" dirty="0"/>
              </a:p>
              <a:p>
                <a:pPr marL="1371600" indent="-1371600">
                  <a:buFont typeface="Arial" panose="020B0604020202020204" pitchFamily="34" charset="0"/>
                  <a:buAutoNum type="romanLcParenBoth"/>
                </a:pPr>
                <a:r>
                  <a:rPr lang="es-419" sz="1600" dirty="0"/>
                  <a:t>Hallar el valor y varianza esperados de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s-AR" sz="16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s-AR" sz="160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bar>
                  </m:oMath>
                </a14:m>
                <a:r>
                  <a:rPr lang="es-419" sz="1600" dirty="0"/>
                  <a:t> (en términos de </a:t>
                </a:r>
                <a14:m>
                  <m:oMath xmlns:m="http://schemas.openxmlformats.org/officeDocument/2006/math">
                    <m:r>
                      <a:rPr lang="es-AR" sz="160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s-419" sz="1600" dirty="0"/>
                  <a:t> 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A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160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AR" sz="16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419" sz="1600" dirty="0"/>
                  <a:t>)</a:t>
                </a:r>
              </a:p>
              <a:p>
                <a:pPr marL="1371600" indent="-1371600">
                  <a:buFont typeface="Arial" panose="020B0604020202020204" pitchFamily="34" charset="0"/>
                  <a:buAutoNum type="romanLcParenBoth"/>
                </a:pPr>
                <a:r>
                  <a:rPr lang="es-419" sz="1600" dirty="0"/>
                  <a:t>Hallar el valor y varianza esperados de W (en términos de </a:t>
                </a:r>
                <a14:m>
                  <m:oMath xmlns:m="http://schemas.openxmlformats.org/officeDocument/2006/math">
                    <m:r>
                      <a:rPr lang="es-AR" sz="1600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s-419" sz="1600" dirty="0"/>
                  <a:t> 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A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160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AR" sz="16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AR" sz="160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AR" sz="1600" dirty="0"/>
              </a:p>
              <a:p>
                <a:pPr marL="1371600" indent="-1371600">
                  <a:buFont typeface="Arial" panose="020B0604020202020204" pitchFamily="34" charset="0"/>
                  <a:buAutoNum type="romanLcParenBoth"/>
                </a:pPr>
                <a:r>
                  <a:rPr lang="es-AR" sz="1600" dirty="0"/>
                  <a:t>¿Cuál estimador preferís?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s-419" sz="1400" kern="100" dirty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s-419" sz="16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s-419" sz="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s-419" sz="400" dirty="0"/>
              </a:p>
            </p:txBody>
          </p:sp>
        </mc:Choice>
        <mc:Fallback xmlns="">
          <p:sp>
            <p:nvSpPr>
              <p:cNvPr id="10" name="Marcador de contenido 2">
                <a:extLst>
                  <a:ext uri="{FF2B5EF4-FFF2-40B4-BE49-F238E27FC236}">
                    <a16:creationId xmlns:a16="http://schemas.microsoft.com/office/drawing/2014/main" id="{94CB3C70-F7D4-94E1-237C-744124A22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50" y="600900"/>
                <a:ext cx="8936653" cy="3630550"/>
              </a:xfrm>
              <a:prstGeom prst="rect">
                <a:avLst/>
              </a:prstGeom>
              <a:blipFill>
                <a:blip r:embed="rId3"/>
                <a:stretch>
                  <a:fillRect l="-341" b="-134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232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E55CA3-5339-82FA-708F-E5954C3FE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1(i) Solución: Esperanza de Y</a:t>
            </a:r>
            <a:endParaRPr lang="es-419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2C72C63-0082-D1B0-A786-29AAD9EF10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sz="210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ctrlPr>
                            <a:rPr lang="es-419" sz="21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es-419" sz="21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barPr>
                            <m:e>
                              <m:r>
                                <a:rPr lang="es-419" sz="21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</m:e>
                          </m:bar>
                        </m:e>
                      </m:d>
                      <m:r>
                        <a:rPr lang="es-419" sz="21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s-419" sz="21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ctrlPr>
                            <a:rPr lang="es-419" sz="21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419" sz="21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419" sz="21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sz="21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s-419" sz="21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419" sz="21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s-419" sz="21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sz="21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s-419" sz="21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s-419" sz="21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s-419" sz="21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sz="21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s-419" sz="21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s-419" sz="21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s-419" sz="21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sz="21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s-419" sz="21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s-419" sz="21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s-419" sz="21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s-419" sz="21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s-419" sz="1900" i="1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Aplicamos propiedad 1: </a:t>
                </a:r>
                <a14:m>
                  <m:oMath xmlns:m="http://schemas.openxmlformats.org/officeDocument/2006/math">
                    <m:r>
                      <a:rPr lang="es-419" sz="19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s-419" sz="19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419" sz="19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s-419" sz="19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⋅</m:t>
                        </m:r>
                        <m:r>
                          <a:rPr lang="es-419" sz="19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  <m:r>
                      <a:rPr lang="es-419" sz="19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419" sz="19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s-419" sz="19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⋅</m:t>
                    </m:r>
                    <m:r>
                      <a:rPr lang="es-419" sz="19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s-419" sz="19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419" sz="19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s-419" sz="1900" i="1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sz="210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ctrlPr>
                            <a:rPr lang="es-419" sz="21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es-419" sz="21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barPr>
                            <m:e>
                              <m:r>
                                <a:rPr lang="es-419" sz="21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</m:e>
                          </m:bar>
                        </m:e>
                      </m:d>
                      <m:r>
                        <a:rPr lang="es-419" sz="21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sz="21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419" sz="21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419" sz="21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4</m:t>
                          </m:r>
                        </m:den>
                      </m:f>
                      <m:r>
                        <a:rPr lang="es-419" sz="21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ctrlPr>
                            <a:rPr lang="es-419" sz="21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419" sz="21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21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s-419" sz="21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419" sz="21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419" sz="21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21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s-419" sz="21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419" sz="21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419" sz="21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21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s-419" sz="21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s-419" sz="21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419" sz="21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21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s-419" sz="21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419" sz="21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s-419" sz="21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s-419" sz="1900" i="1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Aplicamos propiedad 2: </a:t>
                </a:r>
                <a14:m>
                  <m:oMath xmlns:m="http://schemas.openxmlformats.org/officeDocument/2006/math">
                    <m:r>
                      <a:rPr lang="es-419" sz="19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𝑠𝑖</m:t>
                    </m:r>
                    <m:r>
                      <a:rPr lang="es-419" sz="19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s-419" sz="19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419" sz="19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s-419" sz="19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s-419" sz="19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s-419" sz="19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419" sz="19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s-419" sz="19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s-419" sz="19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419" sz="19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𝑖𝑛𝑑𝑒𝑝𝑒𝑛𝑑𝑖𝑒𝑛𝑡𝑒𝑠</m:t>
                    </m:r>
                    <m:r>
                      <a:rPr lang="es-419" sz="19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∴</m:t>
                    </m:r>
                    <m:r>
                      <a:rPr lang="es-419" sz="19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s-419" sz="19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sz="1900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419" sz="1900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sz="1900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419" sz="19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419" sz="1900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419" sz="1900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sz="1900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s-419" sz="19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419" sz="19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s-419" sz="19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sz="1900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419" sz="1900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sz="1900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s-419" sz="19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s-419" sz="19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s-419" sz="19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sz="1900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419" sz="1900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sz="1900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s-419" sz="1900" i="1" kern="100" dirty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s-419" sz="1900" i="1" kern="100" dirty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sz="210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ctrlPr>
                            <a:rPr lang="es-419" sz="21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es-419" sz="21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barPr>
                            <m:e>
                              <m:r>
                                <a:rPr lang="es-419" sz="21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</m:e>
                          </m:bar>
                        </m:e>
                      </m:d>
                      <m:r>
                        <a:rPr lang="es-419" sz="21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sz="21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419" sz="21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419" sz="21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4</m:t>
                          </m:r>
                        </m:den>
                      </m:f>
                      <m:r>
                        <a:rPr lang="es-419" sz="21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ctrlPr>
                            <a:rPr lang="es-419" sz="21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419" sz="21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21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s-419" sz="21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s-419" sz="21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s-419" sz="21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419" sz="21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419" sz="21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4</m:t>
                          </m:r>
                        </m:den>
                      </m:f>
                      <m:r>
                        <a:rPr lang="es-419" sz="21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s-419" sz="21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419" sz="21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419" sz="21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s-419" sz="21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s-419" sz="21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)+</m:t>
                      </m:r>
                      <m:f>
                        <m:fPr>
                          <m:ctrlPr>
                            <a:rPr lang="es-419" sz="21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419" sz="21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419" sz="21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4</m:t>
                          </m:r>
                        </m:den>
                      </m:f>
                      <m:r>
                        <a:rPr lang="es-419" sz="21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s-419" sz="21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419" sz="21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419" sz="21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s-419" sz="21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s-419" sz="21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)+</m:t>
                      </m:r>
                      <m:f>
                        <m:fPr>
                          <m:ctrlPr>
                            <a:rPr lang="es-419" sz="21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419" sz="21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419" sz="21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4</m:t>
                          </m:r>
                        </m:den>
                      </m:f>
                      <m:r>
                        <a:rPr lang="es-419" sz="21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s-419" sz="21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419" sz="21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419" sz="21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s-419" sz="21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  <m:r>
                        <a:rPr lang="es-419" sz="21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s-419" sz="21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s-419" sz="21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s-419" sz="1900" i="1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Aplicamos #3: </a:t>
                </a:r>
                <a14:m>
                  <m:oMath xmlns:m="http://schemas.openxmlformats.org/officeDocument/2006/math">
                    <m:r>
                      <a:rPr lang="es-419" sz="19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s-419" sz="19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sz="1900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419" sz="1900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sz="1900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s-419" sz="19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419" sz="19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endParaRPr lang="es-419" sz="1900" i="1" kern="100" dirty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sz="210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ctrlPr>
                            <a:rPr lang="es-419" sz="21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es-419" sz="21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barPr>
                            <m:e>
                              <m:r>
                                <a:rPr lang="es-419" sz="21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</m:e>
                          </m:bar>
                        </m:e>
                      </m:d>
                      <m:r>
                        <a:rPr lang="es-419" sz="21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sz="21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419" sz="21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419" sz="21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4</m:t>
                          </m:r>
                        </m:den>
                      </m:f>
                      <m:r>
                        <a:rPr lang="es-419" sz="21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⋅</m:t>
                      </m:r>
                      <m:r>
                        <a:rPr lang="es-419" sz="21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𝜇</m:t>
                      </m:r>
                      <m:r>
                        <a:rPr lang="es-419" sz="21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s-419" sz="21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419" sz="21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419" sz="21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4</m:t>
                          </m:r>
                        </m:den>
                      </m:f>
                      <m:r>
                        <a:rPr lang="es-419" sz="21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⋅</m:t>
                      </m:r>
                      <m:r>
                        <a:rPr lang="es-419" sz="21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𝜇</m:t>
                      </m:r>
                      <m:r>
                        <a:rPr lang="es-419" sz="21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s-419" sz="21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419" sz="21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419" sz="21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4</m:t>
                          </m:r>
                        </m:den>
                      </m:f>
                      <m:r>
                        <a:rPr lang="es-419" sz="21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⋅</m:t>
                      </m:r>
                      <m:r>
                        <a:rPr lang="es-419" sz="21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𝜇</m:t>
                      </m:r>
                      <m:r>
                        <a:rPr lang="es-419" sz="21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s-419" sz="21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419" sz="21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419" sz="21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4</m:t>
                          </m:r>
                        </m:den>
                      </m:f>
                      <m:r>
                        <a:rPr lang="es-419" sz="21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⋅</m:t>
                      </m:r>
                      <m:r>
                        <a:rPr lang="es-419" sz="21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𝜇</m:t>
                      </m:r>
                      <m:r>
                        <a:rPr lang="es-419" sz="21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sz="21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419" sz="21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419" sz="21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4</m:t>
                          </m:r>
                        </m:den>
                      </m:f>
                      <m:r>
                        <a:rPr lang="es-419" sz="21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⋅4⋅</m:t>
                      </m:r>
                      <m:r>
                        <a:rPr lang="es-AR" sz="21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𝜇</m:t>
                      </m:r>
                    </m:oMath>
                  </m:oMathPara>
                </a14:m>
                <a:endParaRPr lang="es-AR" sz="2100" b="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s-AR" sz="2100" b="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sz="21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𝑬</m:t>
                      </m:r>
                      <m:d>
                        <m:dPr>
                          <m:ctrlPr>
                            <a:rPr lang="es-419" sz="21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es-419" sz="2100" b="1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barPr>
                            <m:e>
                              <m:r>
                                <a:rPr lang="es-419" sz="2100" b="1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𝒀</m:t>
                              </m:r>
                            </m:e>
                          </m:bar>
                        </m:e>
                      </m:d>
                      <m:r>
                        <a:rPr lang="es-419" sz="21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s-419" sz="21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𝝁</m:t>
                      </m:r>
                    </m:oMath>
                  </m:oMathPara>
                </a14:m>
                <a:endParaRPr lang="es-419" sz="2100" b="1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s-AR" sz="1800" b="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s-419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s-419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endParaRPr lang="es-419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2C72C63-0082-D1B0-A786-29AAD9EF10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3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6326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E55CA3-5339-82FA-708F-E5954C3FE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1(</a:t>
            </a:r>
            <a:r>
              <a:rPr lang="es-AR" dirty="0" err="1"/>
              <a:t>ii</a:t>
            </a:r>
            <a:r>
              <a:rPr lang="es-AR" dirty="0"/>
              <a:t>) Esperanza de W</a:t>
            </a:r>
            <a:endParaRPr lang="es-419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2C72C63-0082-D1B0-A786-29AAD9EF10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56798"/>
                <a:ext cx="10515600" cy="5001202"/>
              </a:xfrm>
            </p:spPr>
            <p:txBody>
              <a:bodyPr>
                <a:normAutofit fontScale="32500" lnSpcReduction="20000"/>
              </a:bodyPr>
              <a:lstStyle/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sz="49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s-419" sz="4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49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  <m:r>
                        <a:rPr lang="es-419" sz="49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sz="49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s-419" sz="4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419" sz="49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419" sz="49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419" sz="4900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  <m:sSub>
                            <m:sSubPr>
                              <m:ctrlPr>
                                <a:rPr lang="es-419" sz="4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49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s-419" sz="49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419" sz="49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s-419" sz="49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419" sz="49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419" sz="4900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  <m:sSub>
                            <m:sSubPr>
                              <m:ctrlPr>
                                <a:rPr lang="es-419" sz="4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49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s-419" sz="49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419" sz="49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s-419" sz="49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419" sz="49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419" sz="49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sSub>
                            <m:sSubPr>
                              <m:ctrlPr>
                                <a:rPr lang="es-419" sz="4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49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s-419" sz="49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s-419" sz="49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s-419" sz="49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419" sz="49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419" sz="49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>
                            <m:sSubPr>
                              <m:ctrlPr>
                                <a:rPr lang="es-419" sz="4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49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s-419" sz="49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419" sz="4900" i="1"/>
              </a:p>
              <a:p>
                <a:pPr marL="0" indent="0">
                  <a:buNone/>
                </a:pPr>
                <a:endParaRPr lang="es-419" sz="1800" kern="10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s-419" sz="4600" i="1" kern="10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Aplicamos propiedad 2: </a:t>
                </a:r>
                <a14:m>
                  <m:oMath xmlns:m="http://schemas.openxmlformats.org/officeDocument/2006/math">
                    <m:r>
                      <a:rPr lang="es-419" sz="46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𝑠𝑖</m:t>
                    </m:r>
                    <m:r>
                      <a:rPr lang="es-419" sz="46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s-419" sz="46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419" sz="46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s-419" sz="46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s-419" sz="46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s-419" sz="46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419" sz="46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s-419" sz="46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s-419" sz="46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419" sz="46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𝑖𝑛𝑑𝑒𝑝𝑒𝑛𝑑𝑖𝑒𝑛𝑡𝑒𝑠</m:t>
                    </m:r>
                    <m:r>
                      <a:rPr lang="es-419" sz="46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∴</m:t>
                    </m:r>
                    <m:r>
                      <a:rPr lang="es-419" sz="46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s-419" sz="46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sz="4600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419" sz="4600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sz="4600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419" sz="46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419" sz="4600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419" sz="4600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sz="4600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s-419" sz="46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419" sz="46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s-419" sz="46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sz="4600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419" sz="4600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sz="4600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s-419" sz="46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s-419" sz="46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s-419" sz="46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sz="4600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419" sz="4600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sz="4600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s-419" sz="4600" i="1" kern="10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s-419" sz="3500" i="1" kern="10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sz="49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s-419" sz="4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419" sz="49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  <m:r>
                        <a:rPr lang="es-419" sz="49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sz="49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s-419" sz="4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419" sz="49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419" sz="49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419" sz="4900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  <m:sSub>
                            <m:sSubPr>
                              <m:ctrlPr>
                                <a:rPr lang="es-419" sz="4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49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s-419" sz="49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s-419" sz="49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419" sz="49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s-419" sz="4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419" sz="49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419" sz="49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419" sz="4900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  <m:sSub>
                            <m:sSubPr>
                              <m:ctrlPr>
                                <a:rPr lang="es-419" sz="4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49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s-419" sz="49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s-419" sz="49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419" sz="49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s-419" sz="4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419" sz="49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419" sz="49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419" sz="49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sSub>
                            <m:sSubPr>
                              <m:ctrlPr>
                                <a:rPr lang="es-419" sz="4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49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s-419" sz="49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s-419" sz="49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419" sz="49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s-419" sz="4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419" sz="49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419" sz="49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419" sz="49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>
                            <m:sSubPr>
                              <m:ctrlPr>
                                <a:rPr lang="es-419" sz="4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49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s-419" sz="49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419" sz="4900" i="1"/>
              </a:p>
              <a:p>
                <a:pPr marL="0" indent="0">
                  <a:buNone/>
                </a:pPr>
                <a:endParaRPr lang="es-419" sz="1400" i="1" kern="10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s-419" sz="1400" i="1" kern="10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s-419" sz="4600" i="1" kern="10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Aplicamos propiedad 1: </a:t>
                </a:r>
                <a14:m>
                  <m:oMath xmlns:m="http://schemas.openxmlformats.org/officeDocument/2006/math">
                    <m:r>
                      <a:rPr lang="es-419" sz="46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s-419" sz="46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419" sz="46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s-419" sz="46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⋅</m:t>
                        </m:r>
                        <m:r>
                          <a:rPr lang="es-419" sz="46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  <m:r>
                      <a:rPr lang="es-419" sz="46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419" sz="46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s-419" sz="46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⋅</m:t>
                    </m:r>
                    <m:r>
                      <a:rPr lang="es-419" sz="46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s-419" sz="46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419" sz="46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s-419" sz="4600" i="1" kern="10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sz="49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s-419" sz="4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419" sz="49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  <m:r>
                        <a:rPr lang="es-419" sz="49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sz="49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sz="49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419" sz="4900" i="1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s-419" sz="49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s-419" sz="4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419" sz="4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49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s-419" sz="49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s-419" sz="49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419" sz="49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sz="49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419" sz="4900" i="1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s-419" sz="49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s-419" sz="4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419" sz="4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49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s-419" sz="49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s-419" sz="49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419" sz="49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sz="49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419" sz="49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s-419" sz="49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s-419" sz="4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419" sz="4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49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s-419" sz="49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s-419" sz="49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419" sz="49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sz="49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419" sz="49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419" sz="49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s-419" sz="4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419" sz="4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49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s-419" sz="49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419" sz="4900" i="1"/>
              </a:p>
              <a:p>
                <a:pPr marL="0" indent="0">
                  <a:buNone/>
                </a:pPr>
                <a:endParaRPr lang="es-419" sz="1800" kern="10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s-419" sz="4600" i="1" kern="10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Aplicamos propiedad 3: </a:t>
                </a:r>
                <a14:m>
                  <m:oMath xmlns:m="http://schemas.openxmlformats.org/officeDocument/2006/math">
                    <m:r>
                      <a:rPr lang="es-419" sz="46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s-419" sz="46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sz="4600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419" sz="4600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sz="4600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s-419" sz="46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419" sz="46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endParaRPr lang="es-419" sz="4600" i="1" kern="10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sz="49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s-419" sz="4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419" sz="49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  <m:r>
                        <a:rPr lang="es-419" sz="49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sz="49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sz="49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419" sz="4900" i="1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s-419" sz="49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s-419" sz="490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s-419" sz="49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419" sz="49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sz="49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419" sz="4900" i="1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s-419" sz="49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s-419" sz="490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s-419" sz="49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419" sz="49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sz="49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419" sz="49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s-419" sz="49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s-419" sz="490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s-419" sz="49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419" sz="49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sz="49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419" sz="49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419" sz="49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s-419" sz="4900" i="1"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s-419" sz="4900"/>
              </a:p>
              <a:p>
                <a:pPr marL="0" indent="0">
                  <a:buNone/>
                </a:pPr>
                <a:endParaRPr lang="es-419" sz="340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sz="4900" b="1" i="1" kern="10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𝑬</m:t>
                      </m:r>
                      <m:d>
                        <m:dPr>
                          <m:ctrlPr>
                            <a:rPr lang="es-419" sz="4900" b="1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419" sz="4900" b="1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𝑾</m:t>
                          </m:r>
                        </m:e>
                      </m:d>
                      <m:r>
                        <a:rPr lang="es-419" sz="4900" b="1" i="1" kern="10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s-419" sz="4900" b="1" i="1" kern="10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𝝁</m:t>
                      </m:r>
                    </m:oMath>
                  </m:oMathPara>
                </a14:m>
                <a:endParaRPr lang="es-419" sz="4900" b="1" i="1" kern="10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s-419"/>
              </a:p>
              <a:p>
                <a:pPr marL="0" indent="0">
                  <a:buNone/>
                </a:pPr>
                <a:endParaRPr lang="es-419" sz="1400" i="1" kern="10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s-AR" sz="1800" b="0" kern="10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s-419" sz="1800" kern="10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s-419" sz="1800" kern="10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endParaRPr lang="es-419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2C72C63-0082-D1B0-A786-29AAD9EF10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56798"/>
                <a:ext cx="10515600" cy="5001202"/>
              </a:xfrm>
              <a:blipFill>
                <a:blip r:embed="rId2"/>
                <a:stretch>
                  <a:fillRect l="-23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7111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D4934-AB8C-DA1C-C771-755E51EA4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DDCDAB-5F90-EEC5-808A-27A49E8B8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1(i)Varianza de Y</a:t>
            </a:r>
            <a:endParaRPr lang="es-419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0D14AC0-1BEA-4591-D039-AA639E44A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205" y="1869477"/>
            <a:ext cx="7693590" cy="325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636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875FC-BF24-F182-7464-20FA769B9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711670-F851-F3F1-ACAA-701E11C3B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1(</a:t>
            </a:r>
            <a:r>
              <a:rPr lang="es-AR" dirty="0" err="1"/>
              <a:t>ii</a:t>
            </a:r>
            <a:r>
              <a:rPr lang="es-AR" dirty="0"/>
              <a:t>)Varianza de W</a:t>
            </a:r>
            <a:endParaRPr lang="es-419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3183F2-DD03-C5DA-7FCE-94FB5CA0E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253" y="1690688"/>
            <a:ext cx="7145493" cy="39123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F26F7E-B3A2-9C71-D60B-CF879A38F435}"/>
              </a:ext>
            </a:extLst>
          </p:cNvPr>
          <p:cNvSpPr txBox="1"/>
          <p:nvPr/>
        </p:nvSpPr>
        <p:spPr>
          <a:xfrm>
            <a:off x="2343150" y="595112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dirty="0"/>
              <a:t>Ambos estimadores son insesgados, pero preferimos Y porque tiene menor varianza.</a:t>
            </a:r>
          </a:p>
        </p:txBody>
      </p:sp>
    </p:spTree>
    <p:extLst>
      <p:ext uri="{BB962C8B-B14F-4D97-AF65-F5344CB8AC3E}">
        <p14:creationId xmlns:p14="http://schemas.microsoft.com/office/powerpoint/2010/main" val="4096222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38360F-9943-16E3-26B5-80BF5CD1C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2 Enunciado</a:t>
            </a:r>
            <a:endParaRPr lang="es-419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B9CFBCD-9EC9-FD49-D482-9BBF172E9F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800" smtClean="0">
                          <a:latin typeface="Cambria Math" panose="02040503050406030204" pitchFamily="18" charset="0"/>
                        </a:rPr>
                        <m:t>𝑀𝑒𝑑𝑖𝑎</m:t>
                      </m:r>
                      <m:r>
                        <a:rPr lang="es-AR" sz="280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sz="2800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s-AR" sz="280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s-AR" sz="2800" smtClean="0">
                          <a:latin typeface="Cambria Math" panose="02040503050406030204" pitchFamily="18" charset="0"/>
                        </a:rPr>
                        <m:t>𝑉𝑎𝑟𝑖𝑎𝑛𝑧𝑎</m:t>
                      </m:r>
                      <m:r>
                        <a:rPr lang="es-AR" sz="280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AR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280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s-AR" sz="28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419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sz="18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419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s-419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419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419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419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s-419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s-419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s-419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es-419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es-419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barPr>
                        <m:e>
                          <m:r>
                            <a:rPr lang="es-419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</m:bar>
                    </m:oMath>
                  </m:oMathPara>
                </a14:m>
                <a:endParaRPr lang="es-419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sz="18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419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s-419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s-419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bar>
                            <m:barPr>
                              <m:pos m:val="top"/>
                              <m:ctrlPr>
                                <a:rPr lang="es-419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barPr>
                            <m:e>
                              <m:r>
                                <a:rPr lang="es-419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</m:e>
                          </m:bar>
                        </m:num>
                        <m:den>
                          <m:r>
                            <a:rPr lang="es-419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419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400050" indent="-400050">
                  <a:buAutoNum type="romanLcParenBoth"/>
                </a:pPr>
                <a:r>
                  <a:rPr lang="es-419" sz="18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Mostrar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sz="18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419" sz="18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  <m:sub>
                        <m:r>
                          <a:rPr lang="es-419" sz="18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419" sz="18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sz="18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419" sz="18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  <m:sub>
                        <m:r>
                          <a:rPr lang="es-419" sz="18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419" sz="18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son estimadores sesgados de </a:t>
                </a:r>
                <a14:m>
                  <m:oMath xmlns:m="http://schemas.openxmlformats.org/officeDocument/2006/math">
                    <m:r>
                      <a:rPr lang="es-AR" sz="1800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s-419" sz="18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y calcular el sesgo.</a:t>
                </a:r>
              </a:p>
              <a:p>
                <a:pPr marL="400050" indent="-400050">
                  <a:buAutoNum type="romanLcParenBoth"/>
                </a:pPr>
                <a:r>
                  <a:rPr lang="es-419" sz="18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¿Qué ocurre cuando n tiende a infinito? </a:t>
                </a:r>
              </a:p>
              <a:p>
                <a:pPr marL="400050" indent="-400050">
                  <a:buAutoNum type="romanLcParenBoth"/>
                </a:pPr>
                <a:r>
                  <a:rPr lang="es-419" sz="1800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Argumente que W1 es mejor estimador que Y cuando </a:t>
                </a:r>
                <a14:m>
                  <m:oMath xmlns:m="http://schemas.openxmlformats.org/officeDocument/2006/math">
                    <m:r>
                      <a:rPr lang="es-AR" sz="180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s-419" sz="18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tiende a 0</a:t>
                </a:r>
              </a:p>
              <a:p>
                <a:pPr marL="0" indent="0">
                  <a:buNone/>
                </a:pPr>
                <a:endParaRPr lang="es-419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s-419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B9CFBCD-9EC9-FD49-D482-9BBF172E9F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9930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E94C5-ED4C-BCCB-139D-E84063856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D1F20D-DD73-0388-797A-02EDD7F9F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2 Enunciado</a:t>
            </a:r>
            <a:endParaRPr lang="es-419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88645C5-5118-AA72-A151-50286FAB27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800" smtClean="0">
                          <a:latin typeface="Cambria Math" panose="02040503050406030204" pitchFamily="18" charset="0"/>
                        </a:rPr>
                        <m:t>𝑀𝑒𝑑𝑖𝑎</m:t>
                      </m:r>
                      <m:r>
                        <a:rPr lang="es-AR" sz="280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sz="2800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s-AR" sz="280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s-AR" sz="2800" smtClean="0">
                          <a:latin typeface="Cambria Math" panose="02040503050406030204" pitchFamily="18" charset="0"/>
                        </a:rPr>
                        <m:t>𝑉𝑎𝑟𝑖𝑎𝑛𝑧𝑎</m:t>
                      </m:r>
                      <m:r>
                        <a:rPr lang="es-AR" sz="280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AR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280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s-AR" sz="28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419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sz="18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419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s-419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419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419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419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s-419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s-419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s-419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es-419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es-419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barPr>
                        <m:e>
                          <m:r>
                            <a:rPr lang="es-419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</m:bar>
                    </m:oMath>
                  </m:oMathPara>
                </a14:m>
                <a:endParaRPr lang="es-419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sz="18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419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s-419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s-419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bar>
                            <m:barPr>
                              <m:pos m:val="top"/>
                              <m:ctrlPr>
                                <a:rPr lang="es-419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barPr>
                            <m:e>
                              <m:r>
                                <a:rPr lang="es-419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</m:e>
                          </m:bar>
                        </m:num>
                        <m:den>
                          <m:r>
                            <a:rPr lang="es-419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419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400050" indent="-400050">
                  <a:buAutoNum type="romanLcParenBoth"/>
                </a:pPr>
                <a:r>
                  <a:rPr lang="es-419" sz="18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Mostrar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sz="18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419" sz="18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  <m:sub>
                        <m:r>
                          <a:rPr lang="es-419" sz="18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419" sz="18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sz="18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419" sz="18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  <m:sub>
                        <m:r>
                          <a:rPr lang="es-419" sz="18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419" sz="18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son estimadores sesgados de </a:t>
                </a:r>
                <a14:m>
                  <m:oMath xmlns:m="http://schemas.openxmlformats.org/officeDocument/2006/math">
                    <m:r>
                      <a:rPr lang="es-AR" sz="1800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s-419" sz="18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y calcular el sesgo.</a:t>
                </a:r>
              </a:p>
              <a:p>
                <a:pPr marL="400050" indent="-400050">
                  <a:buAutoNum type="romanLcParenBoth"/>
                </a:pPr>
                <a:r>
                  <a:rPr lang="es-419" sz="18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¿Qué ocurre cuando n tiende a infinito? </a:t>
                </a:r>
              </a:p>
              <a:p>
                <a:pPr marL="400050" indent="-400050">
                  <a:buAutoNum type="romanLcParenBoth"/>
                </a:pPr>
                <a:endParaRPr lang="es-419" sz="1800" kern="100" dirty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1600" dirty="0"/>
                  <a:t>Jeffrey M. Wooldridge - Introductory Econometrics p.744</a:t>
                </a:r>
                <a:endParaRPr lang="es-419" sz="1600" dirty="0"/>
              </a:p>
              <a:p>
                <a:pPr marL="0" indent="0">
                  <a:buNone/>
                </a:pPr>
                <a:endParaRPr lang="es-419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s-419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88645C5-5118-AA72-A151-50286FAB27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8BE47B-2DCD-95DB-5F51-F4CE63044A6D}"/>
                  </a:ext>
                </a:extLst>
              </p:cNvPr>
              <p:cNvSpPr txBox="1"/>
              <p:nvPr/>
            </p:nvSpPr>
            <p:spPr>
              <a:xfrm>
                <a:off x="6165342" y="5241512"/>
                <a:ext cx="6094476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AR" sz="18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419" sz="18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s-419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419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s-419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⋅</m:t>
                        </m:r>
                        <m:r>
                          <a:rPr lang="es-419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  <m:r>
                      <a:rPr lang="es-419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419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s-419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⋅</m:t>
                    </m:r>
                    <m:r>
                      <a:rPr lang="es-419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s-419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419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s-AR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s-AR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AR" sz="1800" b="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419" sz="180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𝑠𝑖</m:t>
                    </m:r>
                    <m:r>
                      <a:rPr lang="es-419" sz="180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s-419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419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s-419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s-419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s-419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419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s-419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s-419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419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𝑖𝑛𝑑𝑒𝑝𝑒𝑛𝑑𝑖𝑒𝑛𝑡𝑒𝑠</m:t>
                    </m:r>
                    <m:r>
                      <a:rPr lang="es-419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∴</m:t>
                    </m:r>
                    <m:r>
                      <a:rPr lang="es-419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s-419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419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419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419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419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s-419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419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s-419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419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s-419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s-419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s-419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419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s-419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s-419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AR" sz="1800" b="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419" sz="180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s-419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419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s-419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419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endParaRPr lang="es-419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8BE47B-2DCD-95DB-5F51-F4CE63044A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342" y="5241512"/>
                <a:ext cx="6094476" cy="1477328"/>
              </a:xfrm>
              <a:prstGeom prst="rect">
                <a:avLst/>
              </a:prstGeom>
              <a:blipFill>
                <a:blip r:embed="rId3"/>
                <a:stretch>
                  <a:fillRect l="-700" t="-2066" b="-454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9857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6282AB-A2B0-D945-4DD0-C80EE3776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2(i) Solución – Valor Esperado W1</a:t>
            </a:r>
            <a:endParaRPr lang="es-419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C3084AD8-0C57-1123-9793-CDDDC00BE8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sz="180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ctrlPr>
                            <a:rPr lang="es-419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419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s-419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s-419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s-419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ctrlPr>
                            <a:rPr lang="es-419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419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419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419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  <m:r>
                                    <a:rPr lang="es-419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es-419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d>
                          <m:r>
                            <a:rPr lang="es-419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⋅</m:t>
                          </m:r>
                          <m:bar>
                            <m:barPr>
                              <m:pos m:val="top"/>
                              <m:ctrlPr>
                                <a:rPr lang="es-419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barPr>
                            <m:e>
                              <m:r>
                                <a:rPr lang="es-419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</m:e>
                          </m:bar>
                        </m:e>
                      </m:d>
                    </m:oMath>
                  </m:oMathPara>
                </a14:m>
                <a:endParaRPr lang="es-419" sz="1800" kern="10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s-419" sz="1800" kern="10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s-419" sz="1800" i="1" kern="10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Aplicamos propiedad 1: </a:t>
                </a:r>
                <a14:m>
                  <m:oMath xmlns:m="http://schemas.openxmlformats.org/officeDocument/2006/math">
                    <m:r>
                      <a:rPr lang="es-419" sz="18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s-419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419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s-419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⋅</m:t>
                        </m:r>
                        <m:r>
                          <a:rPr lang="es-419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  <m:r>
                      <a:rPr lang="es-419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419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s-419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⋅</m:t>
                    </m:r>
                    <m:r>
                      <a:rPr lang="es-419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s-419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419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s-419" sz="1800" i="1" kern="10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s-419" sz="1800" i="1" kern="10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sz="180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ctrlPr>
                            <a:rPr lang="es-419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419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s-419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s-419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419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419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s-419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s-419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s-419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es-419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r>
                        <a:rPr lang="es-419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ctrlPr>
                            <a:rPr lang="es-419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es-419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barPr>
                            <m:e>
                              <m:r>
                                <a:rPr lang="es-419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</m:e>
                          </m:bar>
                        </m:e>
                      </m:d>
                    </m:oMath>
                  </m:oMathPara>
                </a14:m>
                <a:endParaRPr lang="es-419" sz="1800" kern="10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s-419" sz="1800" kern="10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sz="18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𝑬</m:t>
                      </m:r>
                      <m:d>
                        <m:dPr>
                          <m:ctrlPr>
                            <a:rPr lang="es-419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419" sz="1800" b="1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1800" b="1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s-419" sz="1800" b="1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s-419" sz="18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419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419" sz="1800" b="1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s-419" sz="1800" b="1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𝒏</m:t>
                              </m:r>
                              <m:r>
                                <a:rPr lang="es-419" sz="1800" b="1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s-419" sz="1800" b="1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s-419" sz="1800" b="1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𝒏</m:t>
                              </m:r>
                            </m:den>
                          </m:f>
                        </m:e>
                      </m:d>
                      <m:r>
                        <a:rPr lang="es-419" sz="18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r>
                        <a:rPr lang="es-419" sz="18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𝝁</m:t>
                      </m:r>
                    </m:oMath>
                  </m:oMathPara>
                </a14:m>
                <a:endParaRPr lang="es-419" sz="1800" kern="10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s-419" sz="1800" kern="10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s-419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C3084AD8-0C57-1123-9793-CDDDC00BE8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5946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BE5D49E-D586-6898-9197-B1F74354325D}"/>
              </a:ext>
            </a:extLst>
          </p:cNvPr>
          <p:cNvSpPr/>
          <p:nvPr/>
        </p:nvSpPr>
        <p:spPr>
          <a:xfrm>
            <a:off x="838200" y="2892287"/>
            <a:ext cx="7669697" cy="192819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/>
              <a:t>		Denominador común</a:t>
            </a:r>
            <a:br>
              <a:rPr lang="es-AR"/>
            </a:br>
            <a:br>
              <a:rPr lang="es-AR"/>
            </a:br>
            <a:r>
              <a:rPr lang="es-AR"/>
              <a:t>		</a:t>
            </a:r>
            <a:br>
              <a:rPr lang="es-AR"/>
            </a:br>
            <a:endParaRPr lang="es-419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86282AB-A2B0-D945-4DD0-C80EE3776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2(i) Solución – Sesgo W1</a:t>
            </a:r>
            <a:endParaRPr lang="es-419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C3084AD8-0C57-1123-9793-CDDDC00BE8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64552" y="1690688"/>
                <a:ext cx="3715352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18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𝑺𝒆𝒔𝒈𝒐</m:t>
                      </m:r>
                      <m:d>
                        <m:dPr>
                          <m:ctrlPr>
                            <a:rPr lang="es-AR" sz="1800" b="1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1800" b="1" i="1" kern="10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1800" b="1" i="1" kern="10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s-AR" sz="1800" b="1" i="1" kern="10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s-AR" sz="18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s-AR" sz="18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𝑬</m:t>
                      </m:r>
                      <m:d>
                        <m:dPr>
                          <m:ctrlPr>
                            <a:rPr lang="es-AR" sz="1800" b="1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1800" b="1" i="1" kern="10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1800" b="1" i="1" kern="10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s-AR" sz="1800" b="1" i="1" kern="10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s-AR" sz="18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s-AR" sz="18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𝝁</m:t>
                      </m:r>
                    </m:oMath>
                  </m:oMathPara>
                </a14:m>
                <a:endParaRPr lang="es-419" sz="1800" b="1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18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𝑆𝑒𝑠𝑔𝑜</m:t>
                      </m:r>
                      <m:d>
                        <m:dPr>
                          <m:ctrlPr>
                            <a:rPr lang="es-AR" sz="18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1800" i="1" kern="10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1800" b="0" i="1" kern="10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s-AR" sz="1800" b="0" i="1" kern="10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s-AR" sz="18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s-419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419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419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419" sz="1800" b="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  <m:r>
                                    <a:rPr lang="es-419" sz="1800" b="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es-419" sz="1800" b="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d>
                          <m:r>
                            <a:rPr lang="es-419" sz="18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⋅</m:t>
                          </m:r>
                          <m:r>
                            <a:rPr lang="es-419" sz="18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</m:d>
                      <m:r>
                        <a:rPr lang="es-419" sz="18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s-419" sz="18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𝜇</m:t>
                      </m:r>
                    </m:oMath>
                  </m:oMathPara>
                </a14:m>
                <a:endParaRPr lang="es-419" sz="1800" i="1" kern="100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1400" b="0" i="1" kern="100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𝑆𝑒𝑠𝑔𝑜</m:t>
                      </m:r>
                      <m:d>
                        <m:dPr>
                          <m:ctrlPr>
                            <a:rPr lang="es-AR" sz="1400" b="1" i="1" kern="1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1400" i="1" kern="100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1400" b="0" i="1" kern="100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s-AR" sz="1400" b="0" i="1" kern="100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s-AR" sz="1400" b="0" i="1" kern="100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s-419" sz="1400" i="1" kern="1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s-AR" sz="1400" b="0" i="1" kern="10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s-419" sz="1400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s-419" sz="1400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s-AR" sz="1400" b="0" i="1" kern="1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es-419" sz="1400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r>
                        <a:rPr lang="es-419" sz="1400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s-419" sz="1400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AR" sz="1400" b="0" i="1" kern="1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s-AR" sz="1400" b="0" i="1" kern="1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⋅</m:t>
                          </m:r>
                          <m:r>
                            <a:rPr lang="es-419" sz="1400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es-419" sz="1400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s-AR" sz="1400" b="0" i="1" kern="100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𝑆𝑒𝑠𝑔𝑜</m:t>
                      </m:r>
                      <m:d>
                        <m:dPr>
                          <m:ctrlPr>
                            <a:rPr lang="es-AR" sz="1400" b="1" i="1" kern="1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1400" i="1" kern="100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1400" b="0" i="1" kern="100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s-AR" sz="1400" b="0" i="1" kern="100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s-AR" sz="1400" b="0" i="1" kern="100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sz="14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s-419" sz="14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s-419" sz="14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s-419" sz="14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s-419" sz="14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  <m:r>
                            <a:rPr lang="es-419" sz="14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s-419" sz="14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s-419" sz="14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⋅</m:t>
                          </m:r>
                          <m:r>
                            <a:rPr lang="es-419" sz="14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es-419" sz="14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s-419" sz="1400" i="1" kern="100" dirty="0">
                  <a:solidFill>
                    <a:schemeClr val="bg1"/>
                  </a:solidFill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1400" b="0" i="1" kern="100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𝑆𝑒𝑠𝑔𝑜</m:t>
                      </m:r>
                      <m:d>
                        <m:dPr>
                          <m:ctrlPr>
                            <a:rPr lang="es-AR" sz="1400" b="1" i="1" kern="1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1400" i="1" kern="100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1400" b="0" i="1" kern="100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s-AR" sz="1400" b="0" i="1" kern="100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s-AR" sz="1400" b="0" i="1" kern="100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s-419" sz="14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s-419" sz="14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s-419" sz="14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s-419" sz="14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s-419" sz="14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s-419" sz="14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e>
                      </m:d>
                      <m:r>
                        <a:rPr lang="es-419" sz="14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f>
                        <m:fPr>
                          <m:ctrlPr>
                            <a:rPr lang="es-419" sz="14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419" sz="14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es-419" sz="14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s-419" sz="1400" i="1" kern="100" dirty="0">
                  <a:solidFill>
                    <a:schemeClr val="bg1"/>
                  </a:solidFill>
                  <a:effectLst/>
                  <a:latin typeface="Abadi Extra Light" panose="020F050202020403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1400" b="0" i="1" kern="100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𝑆𝑒𝑠𝑔𝑜</m:t>
                      </m:r>
                      <m:d>
                        <m:dPr>
                          <m:ctrlPr>
                            <a:rPr lang="es-AR" sz="1400" b="1" i="1" kern="1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1400" i="1" kern="100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1400" b="0" i="1" kern="100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s-AR" sz="1400" b="0" i="1" kern="100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s-AR" sz="1400" b="0" i="1" kern="100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s-419" sz="14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419" sz="14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e>
                      </m:d>
                      <m:r>
                        <a:rPr lang="es-419" sz="14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f>
                        <m:fPr>
                          <m:ctrlPr>
                            <a:rPr lang="es-419" sz="14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419" sz="14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es-419" sz="14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br>
                  <a:rPr lang="es-419" sz="1400" i="1" kern="100" dirty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s-AR" sz="1800" b="1" i="1" kern="100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endParaRPr lang="es-AR" sz="1800" b="1" i="1" kern="100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18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𝑺𝒆𝒔𝒈𝒐</m:t>
                      </m:r>
                      <m:d>
                        <m:dPr>
                          <m:ctrlPr>
                            <a:rPr lang="es-AR" sz="1800" b="1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1800" b="1" i="1" kern="10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1800" b="1" i="1" kern="10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s-AR" sz="1800" b="1" i="1" kern="10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s-AR" sz="18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s-419" sz="18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s-419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419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𝝁</m:t>
                          </m:r>
                        </m:num>
                        <m:den>
                          <m:r>
                            <a:rPr lang="es-419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</m:den>
                      </m:f>
                    </m:oMath>
                  </m:oMathPara>
                </a14:m>
                <a:endParaRPr lang="es-419" sz="1800" b="1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s-419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s-419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C3084AD8-0C57-1123-9793-CDDDC00BE8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64552" y="1690688"/>
                <a:ext cx="3715352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brir llave 4">
            <a:extLst>
              <a:ext uri="{FF2B5EF4-FFF2-40B4-BE49-F238E27FC236}">
                <a16:creationId xmlns:a16="http://schemas.microsoft.com/office/drawing/2014/main" id="{9DA6468B-6427-574A-61EB-810E969101CC}"/>
              </a:ext>
            </a:extLst>
          </p:cNvPr>
          <p:cNvSpPr/>
          <p:nvPr/>
        </p:nvSpPr>
        <p:spPr>
          <a:xfrm>
            <a:off x="4979504" y="3001617"/>
            <a:ext cx="99391" cy="80507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Abrir llave 5">
            <a:extLst>
              <a:ext uri="{FF2B5EF4-FFF2-40B4-BE49-F238E27FC236}">
                <a16:creationId xmlns:a16="http://schemas.microsoft.com/office/drawing/2014/main" id="{CA4CBBC4-2803-1DF8-F5F8-6BF081D1E8AE}"/>
              </a:ext>
            </a:extLst>
          </p:cNvPr>
          <p:cNvSpPr/>
          <p:nvPr/>
        </p:nvSpPr>
        <p:spPr>
          <a:xfrm>
            <a:off x="4979504" y="3916017"/>
            <a:ext cx="99391" cy="18884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0923B06-F62D-F3AD-C0FB-A0EE4A6EC3FA}"/>
              </a:ext>
            </a:extLst>
          </p:cNvPr>
          <p:cNvSpPr txBox="1"/>
          <p:nvPr/>
        </p:nvSpPr>
        <p:spPr>
          <a:xfrm>
            <a:off x="2735132" y="3825773"/>
            <a:ext cx="21595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>
                <a:solidFill>
                  <a:schemeClr val="bg1"/>
                </a:solidFill>
              </a:rPr>
              <a:t>Saco afuera del 	()</a:t>
            </a:r>
            <a:endParaRPr lang="es-419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1050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6282AB-A2B0-D945-4DD0-C80EE3776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2(i) Solución – Sesgo W2</a:t>
            </a:r>
            <a:endParaRPr lang="es-419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C3084AD8-0C57-1123-9793-CDDDC00BE8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398505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s-419" sz="1800" u="sng" kern="100" dirty="0"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Valor esperado de W2</a:t>
                </a:r>
                <a:endParaRPr lang="es-419" sz="1800" u="sng" kern="100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sz="180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ctrlPr>
                            <a:rPr lang="es-419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419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s-AR" sz="1800" b="0" i="1" kern="10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s-419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s-419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ctrlPr>
                            <a:rPr lang="es-419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AR" sz="1800" b="0" i="1" kern="10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bar>
                                <m:barPr>
                                  <m:pos m:val="top"/>
                                  <m:ctrlPr>
                                    <a:rPr lang="es-419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s-419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</m:bar>
                            </m:num>
                            <m:den>
                              <m:r>
                                <a:rPr lang="es-AR" sz="1800" b="0" i="1" kern="10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s-419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s-419" sz="1800" i="1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Aplicamos propiedad 1: </a:t>
                </a:r>
                <a14:m>
                  <m:oMath xmlns:m="http://schemas.openxmlformats.org/officeDocument/2006/math">
                    <m:r>
                      <a:rPr lang="es-419" sz="18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s-419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419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s-419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⋅</m:t>
                        </m:r>
                        <m:r>
                          <a:rPr lang="es-419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  <m:r>
                      <a:rPr lang="es-419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419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s-419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⋅</m:t>
                    </m:r>
                    <m:r>
                      <a:rPr lang="es-419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s-419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419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s-419" sz="1800" i="1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sz="180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ctrlPr>
                            <a:rPr lang="es-419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419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s-AR" sz="1800" b="0" i="1" kern="10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s-419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18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AR" sz="18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AR" sz="18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s-419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ctrlPr>
                            <a:rPr lang="es-419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es-419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barPr>
                            <m:e>
                              <m:r>
                                <a:rPr lang="es-419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</m:e>
                          </m:bar>
                        </m:e>
                      </m:d>
                    </m:oMath>
                  </m:oMathPara>
                </a14:m>
                <a:endParaRPr lang="es-419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s-419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sz="18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𝑬</m:t>
                      </m:r>
                      <m:d>
                        <m:dPr>
                          <m:ctrlPr>
                            <a:rPr lang="es-419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1800" b="1" i="1" kern="10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1800" b="1" i="1" kern="10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s-AR" sz="1800" b="1" i="1" kern="10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s-419" sz="18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1800" b="1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AR" sz="1800" b="1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𝝁</m:t>
                          </m:r>
                        </m:num>
                        <m:den>
                          <m:r>
                            <a:rPr lang="es-AR" sz="1800" b="1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s-419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s-419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s-419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C3084AD8-0C57-1123-9793-CDDDC00BE8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398505"/>
              </a:xfrm>
              <a:blipFill>
                <a:blip r:embed="rId2"/>
                <a:stretch>
                  <a:fillRect l="-406" t="-279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9A084701-B298-1D2B-F330-4BAE3CF345E9}"/>
                  </a:ext>
                </a:extLst>
              </p:cNvPr>
              <p:cNvSpPr txBox="1"/>
              <p:nvPr/>
            </p:nvSpPr>
            <p:spPr>
              <a:xfrm>
                <a:off x="838200" y="4472608"/>
                <a:ext cx="10515599" cy="24227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>
                  <a:buNone/>
                </a:pPr>
                <a:r>
                  <a:rPr lang="es-AR" u="sng"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Sesgo de W2</a:t>
                </a:r>
                <a:endParaRPr lang="es-AR" sz="1800" b="0" u="sng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18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𝑆𝑒𝑠𝑔𝑜</m:t>
                      </m:r>
                      <m:d>
                        <m:dPr>
                          <m:ctrlPr>
                            <a:rPr lang="es-AR" sz="180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1800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1800" b="0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s-AR" sz="1800" b="0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s-AR" sz="18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s-AR" sz="18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ctrlPr>
                            <a:rPr lang="es-AR" sz="180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1800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1800" b="0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s-AR" sz="1800" b="0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s-AR" sz="18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s-AR" sz="18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𝜇</m:t>
                      </m:r>
                    </m:oMath>
                  </m:oMathPara>
                </a14:m>
                <a:br>
                  <a:rPr lang="es-AR" sz="1800" kern="10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</a:br>
                <a:endParaRPr lang="es-419" sz="1800" kern="10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s-AR" sz="1800" b="0" i="1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18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𝑆𝑒𝑠𝑔𝑜</m:t>
                      </m:r>
                      <m:d>
                        <m:dPr>
                          <m:ctrlPr>
                            <a:rPr lang="es-AR" sz="180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1800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1800" b="0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s-AR" sz="1800" b="0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s-AR" sz="18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18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AR" sz="18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es-AR" sz="18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s-AR" sz="18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s-AR" sz="18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𝜇</m:t>
                      </m:r>
                    </m:oMath>
                  </m:oMathPara>
                </a14:m>
                <a:endParaRPr lang="es-AR" sz="1800" b="0" i="1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s-AR" sz="1800" b="1" i="1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1800" b="1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𝑺𝒆𝒔𝒈𝒐</m:t>
                      </m:r>
                      <m:d>
                        <m:dPr>
                          <m:ctrlPr>
                            <a:rPr lang="es-AR" sz="1800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18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18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s-AR" sz="18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s-AR" sz="1800" b="1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f>
                        <m:fPr>
                          <m:ctrlPr>
                            <a:rPr lang="es-AR" sz="1800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AR" sz="1800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𝝁</m:t>
                          </m:r>
                        </m:num>
                        <m:den>
                          <m:r>
                            <a:rPr lang="es-AR" sz="1800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s-419" sz="1800" kern="10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endParaRPr lang="es-419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9A084701-B298-1D2B-F330-4BAE3CF345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472608"/>
                <a:ext cx="10515599" cy="2422715"/>
              </a:xfrm>
              <a:prstGeom prst="rect">
                <a:avLst/>
              </a:prstGeom>
              <a:blipFill>
                <a:blip r:embed="rId3"/>
                <a:stretch>
                  <a:fillRect l="-522" t="-176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2090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CBE33-EAE7-B9DD-6151-19CC0B8E2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371939-5BB5-16B8-3ACD-DA8BAE1C1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2) </a:t>
            </a:r>
            <a:r>
              <a:rPr lang="es-AR" dirty="0" err="1"/>
              <a:t>ii</a:t>
            </a:r>
            <a:r>
              <a:rPr lang="es-AR" dirty="0"/>
              <a:t>) Varianzas</a:t>
            </a:r>
            <a:endParaRPr lang="es-419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757A90-597E-7750-4431-B6E035CB9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14" y="1690688"/>
            <a:ext cx="5096586" cy="343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463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CA79B-E038-14FB-FA58-DFE1A1791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A6B25B-82C8-573A-26A8-8CE3FEB2D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2) </a:t>
            </a:r>
            <a:r>
              <a:rPr lang="es-AR" dirty="0" err="1"/>
              <a:t>iii</a:t>
            </a:r>
            <a:r>
              <a:rPr lang="es-AR" dirty="0"/>
              <a:t>) Error Cuadrático Medio</a:t>
            </a:r>
            <a:endParaRPr lang="es-419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58A840-5A9A-EC15-64A0-B0393F8A9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7120" y="3225396"/>
            <a:ext cx="4324954" cy="7240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87F183-A522-40EF-0108-BEFE17982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2019" y="2302459"/>
            <a:ext cx="2219635" cy="3620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Marcador de contenido 2">
                <a:extLst>
                  <a:ext uri="{FF2B5EF4-FFF2-40B4-BE49-F238E27FC236}">
                    <a16:creationId xmlns:a16="http://schemas.microsoft.com/office/drawing/2014/main" id="{211ACE7C-B981-E54F-D95F-C944A7F87A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06998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s-419" sz="18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La varianza de W1 es una fracción (menor a 1) de la Varianza de Y. </a:t>
                </a:r>
                <a:r>
                  <a:rPr lang="es-419" sz="1800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El problema es que W1 está sesgado. Para compararlos debemos usar el ECM</a:t>
                </a:r>
              </a:p>
              <a:p>
                <a:pPr marL="0" indent="0">
                  <a:buNone/>
                </a:pPr>
                <a:endParaRPr lang="es-419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s-419" sz="18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El ejercicio nos pide que miremos los casos donde </a:t>
                </a:r>
                <a14:m>
                  <m:oMath xmlns:m="http://schemas.openxmlformats.org/officeDocument/2006/math">
                    <m:r>
                      <a:rPr lang="es-419" sz="1800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es-419" sz="1800" i="1" kern="100" dirty="0"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419" sz="1800" kern="100" dirty="0"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tiende a 0 porque el término del sesgo, que depende 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419" sz="1800" i="0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μ</m:t>
                    </m:r>
                  </m:oMath>
                </a14:m>
                <a:r>
                  <a:rPr lang="es-419" sz="1800" kern="100" dirty="0"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se vuelve insignificante y terminamos con un ECM menor que el del estimador insesgado.</a:t>
                </a:r>
              </a:p>
              <a:p>
                <a:pPr marL="0" indent="0">
                  <a:buNone/>
                </a:pPr>
                <a:endParaRPr lang="es-419" sz="1800" i="1" kern="100" dirty="0"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s-419" sz="1800" i="1" kern="100" dirty="0"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s-419" sz="1800" kern="100" dirty="0"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 veces en estadística se acepta un sesgo con tal de reducir la variabilidad.</a:t>
                </a:r>
              </a:p>
              <a:p>
                <a:pPr marL="0" indent="0">
                  <a:buNone/>
                </a:pPr>
                <a:endParaRPr lang="es-419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s-419" dirty="0"/>
              </a:p>
            </p:txBody>
          </p:sp>
        </mc:Choice>
        <mc:Fallback xmlns="">
          <p:sp>
            <p:nvSpPr>
              <p:cNvPr id="7" name="Marcador de contenido 2">
                <a:extLst>
                  <a:ext uri="{FF2B5EF4-FFF2-40B4-BE49-F238E27FC236}">
                    <a16:creationId xmlns:a16="http://schemas.microsoft.com/office/drawing/2014/main" id="{211ACE7C-B981-E54F-D95F-C944A7F87A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6998"/>
                <a:ext cx="10515600" cy="4351338"/>
              </a:xfrm>
              <a:blipFill>
                <a:blip r:embed="rId4"/>
                <a:stretch>
                  <a:fillRect l="-522" t="-1403" r="-174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13710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935</Words>
  <Application>Microsoft Office PowerPoint</Application>
  <PresentationFormat>Widescreen</PresentationFormat>
  <Paragraphs>142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Abadi Extra Light</vt:lpstr>
      <vt:lpstr>Aptos</vt:lpstr>
      <vt:lpstr>Aptos Display</vt:lpstr>
      <vt:lpstr>Arial</vt:lpstr>
      <vt:lpstr>Cambria Math</vt:lpstr>
      <vt:lpstr>Times New Roman</vt:lpstr>
      <vt:lpstr>Tema de Office</vt:lpstr>
      <vt:lpstr>Ejercicios Propuestos Propiedades de estimadores</vt:lpstr>
      <vt:lpstr>1 Enunciado</vt:lpstr>
      <vt:lpstr>Propiedades útiles</vt:lpstr>
      <vt:lpstr>PowerPoint Presentation</vt:lpstr>
      <vt:lpstr>1(i) Solución: Esperanza de Y</vt:lpstr>
      <vt:lpstr>1(ii) Esperanza de W</vt:lpstr>
      <vt:lpstr>1(i)Varianza de Y</vt:lpstr>
      <vt:lpstr>1(ii)Varianza de W</vt:lpstr>
      <vt:lpstr>2 Enunciado</vt:lpstr>
      <vt:lpstr>2 Enunciado</vt:lpstr>
      <vt:lpstr>2(i) Solución – Valor Esperado W1</vt:lpstr>
      <vt:lpstr>2(i) Solución – Sesgo W1</vt:lpstr>
      <vt:lpstr>2(i) Solución – Sesgo W2</vt:lpstr>
      <vt:lpstr>2) ii) Varianzas</vt:lpstr>
      <vt:lpstr>2) iii) Error Cuadrático Medio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Ejercicios Propuestos</dc:title>
  <dc:creator>Octavio Santalucia</dc:creator>
  <cp:lastModifiedBy>Octavio Santalucia</cp:lastModifiedBy>
  <cp:revision>2</cp:revision>
  <dcterms:created xsi:type="dcterms:W3CDTF">2024-03-11T15:04:01Z</dcterms:created>
  <dcterms:modified xsi:type="dcterms:W3CDTF">2026-03-16T14:40:19Z</dcterms:modified>
</cp:coreProperties>
</file>