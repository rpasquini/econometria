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s-419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6D720A3-D5C0-4A1C-9056-8FC25BCB619B}" v="45" dt="2026-03-16T19:41:33.17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7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ctavio Santalucia" userId="bacb8c15-ec69-407c-a779-cefb28a37651" providerId="ADAL" clId="{0DFB3433-ED79-4118-85D4-485A82DEE246}"/>
    <pc:docChg chg="modSld">
      <pc:chgData name="Octavio Santalucia" userId="bacb8c15-ec69-407c-a779-cefb28a37651" providerId="ADAL" clId="{0DFB3433-ED79-4118-85D4-485A82DEE246}" dt="2026-03-16T19:41:33.174" v="44" actId="20577"/>
      <pc:docMkLst>
        <pc:docMk/>
      </pc:docMkLst>
      <pc:sldChg chg="modSp">
        <pc:chgData name="Octavio Santalucia" userId="bacb8c15-ec69-407c-a779-cefb28a37651" providerId="ADAL" clId="{0DFB3433-ED79-4118-85D4-485A82DEE246}" dt="2026-03-16T19:41:33.174" v="44" actId="20577"/>
        <pc:sldMkLst>
          <pc:docMk/>
          <pc:sldMk cId="2170937131" sldId="259"/>
        </pc:sldMkLst>
        <pc:spChg chg="mod">
          <ac:chgData name="Octavio Santalucia" userId="bacb8c15-ec69-407c-a779-cefb28a37651" providerId="ADAL" clId="{0DFB3433-ED79-4118-85D4-485A82DEE246}" dt="2026-03-16T19:41:33.174" v="44" actId="20577"/>
          <ac:spMkLst>
            <pc:docMk/>
            <pc:sldMk cId="2170937131" sldId="259"/>
            <ac:spMk id="3" creationId="{09948FAE-5545-DB64-3AA0-B1ABB1CCD3A4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F7917E-CCCA-F821-00B0-CB2D3D7B02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88B227C-981C-5698-E487-EE3C0A8C62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419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3F6C972-447F-A742-CE34-A387D9C12B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9AE57E-5CDE-4466-A984-8D059BCEEAD2}" type="datetimeFigureOut">
              <a:rPr lang="es-419" smtClean="0"/>
              <a:t>16/3/2026</a:t>
            </a:fld>
            <a:endParaRPr lang="es-419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B7E6703-FB04-C3C7-AE0B-83767D1514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FBA3A45-4C09-9BFA-A23A-B44796987B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BE0C69-16B1-4750-97CE-D5D1FB662907}" type="slidenum">
              <a:rPr lang="es-419" smtClean="0"/>
              <a:t>‹#›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6374248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7A3E23-8030-A401-4D81-2B9F76505A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903CCD2-DEF0-B988-F8E0-37DCB908EC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19C02CC-88B7-3F49-2D6D-7A9D5291B8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9AE57E-5CDE-4466-A984-8D059BCEEAD2}" type="datetimeFigureOut">
              <a:rPr lang="es-419" smtClean="0"/>
              <a:t>16/3/2026</a:t>
            </a:fld>
            <a:endParaRPr lang="es-419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04879F4-0093-FBD4-3D63-34FD08A6C3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685BA7B-BC8E-1D29-A56C-B9E39AEF4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BE0C69-16B1-4750-97CE-D5D1FB662907}" type="slidenum">
              <a:rPr lang="es-419" smtClean="0"/>
              <a:t>‹#›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6758623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A2175C-8C85-45D9-F0DD-8E0ACC9F28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A530E09-21FA-3155-B136-B64AF70335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946492A-5C7E-7652-6AAA-5563DE022D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9AE57E-5CDE-4466-A984-8D059BCEEAD2}" type="datetimeFigureOut">
              <a:rPr lang="es-419" smtClean="0"/>
              <a:t>16/3/2026</a:t>
            </a:fld>
            <a:endParaRPr lang="es-419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9E2BC01-6764-96D3-B481-7B2F1692D7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2EB9F89-4355-1C90-69CA-CAEFB456C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BE0C69-16B1-4750-97CE-D5D1FB662907}" type="slidenum">
              <a:rPr lang="es-419" smtClean="0"/>
              <a:t>‹#›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30091802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BB481A-2019-C2EC-7829-51C92AF3D7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54CDA9C-9DE9-D953-4A28-260D6037A0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2EABEF5-0560-6789-39FC-C012328DC9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18B167E-E6F1-6E4F-E75D-75D886E862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9AE57E-5CDE-4466-A984-8D059BCEEAD2}" type="datetimeFigureOut">
              <a:rPr lang="es-419" smtClean="0"/>
              <a:t>16/3/2026</a:t>
            </a:fld>
            <a:endParaRPr lang="es-419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81A7E99-E8EA-A7FD-4CE8-947EBC69C0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6A78E9A-1D83-AA8E-ED92-E3BCFDB07F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BE0C69-16B1-4750-97CE-D5D1FB662907}" type="slidenum">
              <a:rPr lang="es-419" smtClean="0"/>
              <a:t>‹#›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1122766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48A2BF-20DD-72E4-8B73-464E91D884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F515DAA-E64F-3110-DA5B-3E50DBBF38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BA159AA-E83C-F282-CDA4-ED188A1937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92FB147D-8977-21DF-A1CF-C62AF7ABB8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3515879C-2C7F-A6F9-7C72-086431FF05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ECB4B1B2-FC91-7F1F-C85E-EB7EBB3A19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9AE57E-5CDE-4466-A984-8D059BCEEAD2}" type="datetimeFigureOut">
              <a:rPr lang="es-419" smtClean="0"/>
              <a:t>16/3/2026</a:t>
            </a:fld>
            <a:endParaRPr lang="es-419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62D4D41B-10FF-05DA-2998-55BA80540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6105311E-CCBF-8013-F303-C1FEE1BD9F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BE0C69-16B1-4750-97CE-D5D1FB662907}" type="slidenum">
              <a:rPr lang="es-419" smtClean="0"/>
              <a:t>‹#›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6603455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34534F-8F0C-1B6F-99B7-EFB73B9B63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486A76B0-4C21-6B93-CACA-A25B43AD26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9AE57E-5CDE-4466-A984-8D059BCEEAD2}" type="datetimeFigureOut">
              <a:rPr lang="es-419" smtClean="0"/>
              <a:t>16/3/2026</a:t>
            </a:fld>
            <a:endParaRPr lang="es-419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06DA4452-2936-6A73-8757-32C2559223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E2CD573-22AA-2BDC-44F7-9F9B6686EE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BE0C69-16B1-4750-97CE-D5D1FB662907}" type="slidenum">
              <a:rPr lang="es-419" smtClean="0"/>
              <a:t>‹#›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2348381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300A4672-5F4E-6E2E-F09B-B80923E945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9AE57E-5CDE-4466-A984-8D059BCEEAD2}" type="datetimeFigureOut">
              <a:rPr lang="es-419" smtClean="0"/>
              <a:t>16/3/2026</a:t>
            </a:fld>
            <a:endParaRPr lang="es-419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46F1A7B-4C3A-9B6A-D544-F93549B9B0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0AA0AB5-86D4-E960-B25C-C705BAC2EB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BE0C69-16B1-4750-97CE-D5D1FB662907}" type="slidenum">
              <a:rPr lang="es-419" smtClean="0"/>
              <a:t>‹#›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0484358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719A42-242A-6C36-1EE5-63C4C66F65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5FD7753-451F-6A1F-4711-6DEA6A26B7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98DDDC4-1E04-ED60-D3CE-C5B63AFC6B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02DE67A-559E-85E8-38FC-7376BC7D57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9AE57E-5CDE-4466-A984-8D059BCEEAD2}" type="datetimeFigureOut">
              <a:rPr lang="es-419" smtClean="0"/>
              <a:t>16/3/2026</a:t>
            </a:fld>
            <a:endParaRPr lang="es-419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5C652A8-9B02-5EBA-225F-BCCCDF46B4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6C18FD6-7941-CCBD-0FC6-17AF8FEC79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BE0C69-16B1-4750-97CE-D5D1FB662907}" type="slidenum">
              <a:rPr lang="es-419" smtClean="0"/>
              <a:t>‹#›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3977154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0AA0EA-CB49-71EE-B94E-ED0CE3BFD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0B7D8EB1-8D4C-A62E-9953-4FF987ED19A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419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BC7B99B-085B-6C40-94F1-9FA48A981A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F8C61A3-7EA5-16C1-5575-D7FEE2575F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9AE57E-5CDE-4466-A984-8D059BCEEAD2}" type="datetimeFigureOut">
              <a:rPr lang="es-419" smtClean="0"/>
              <a:t>16/3/2026</a:t>
            </a:fld>
            <a:endParaRPr lang="es-419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CACBB1B-AD9F-A1CD-D814-3ACF82C3F0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886EB3F-D76C-1B16-66B9-891838711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BE0C69-16B1-4750-97CE-D5D1FB662907}" type="slidenum">
              <a:rPr lang="es-419" smtClean="0"/>
              <a:t>‹#›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31204764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38F1EF-5E47-8F62-2290-4B971C1BCA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199089E-4BC8-42E7-0337-52AFEF50CC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D2187D4-2E9F-D87C-3A2C-FA9CCCCF3B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9AE57E-5CDE-4466-A984-8D059BCEEAD2}" type="datetimeFigureOut">
              <a:rPr lang="es-419" smtClean="0"/>
              <a:t>16/3/2026</a:t>
            </a:fld>
            <a:endParaRPr lang="es-419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7FC964C-1DE5-88F9-42F5-E284A3EB0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B15DB94-550B-799E-1736-9C325C167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BE0C69-16B1-4750-97CE-D5D1FB662907}" type="slidenum">
              <a:rPr lang="es-419" smtClean="0"/>
              <a:t>‹#›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8968071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EC17E0B-05D7-7EF2-96D5-9D18CD0C2E2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E9052A6-DBE4-DD5E-30D3-547B0B6B89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2F7E944-A35F-3114-5EA3-E1C26149C1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9AE57E-5CDE-4466-A984-8D059BCEEAD2}" type="datetimeFigureOut">
              <a:rPr lang="es-419" smtClean="0"/>
              <a:t>16/3/2026</a:t>
            </a:fld>
            <a:endParaRPr lang="es-419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EFD997D-0CBA-46C6-1244-6889B4351E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C9971D0-1A10-1CA5-CBEA-1593A07B3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BE0C69-16B1-4750-97CE-D5D1FB662907}" type="slidenum">
              <a:rPr lang="es-419" smtClean="0"/>
              <a:t>‹#›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8496017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A5E4FD5-C194-AB55-DE2F-E4615105E3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ACC82E7-CEB2-3385-7BD3-D70260BF2B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1291986-8322-47F1-F89A-29FFE8926E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39AE57E-5CDE-4466-A984-8D059BCEEAD2}" type="datetimeFigureOut">
              <a:rPr lang="es-419" smtClean="0"/>
              <a:t>16/3/2026</a:t>
            </a:fld>
            <a:endParaRPr lang="es-419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5053F77-E554-A9D0-DCEB-7DCCC81AC8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419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F459832-B88C-489D-0149-47AEF04C77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5BE0C69-16B1-4750-97CE-D5D1FB662907}" type="slidenum">
              <a:rPr lang="es-419" smtClean="0"/>
              <a:t>‹#›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9480880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419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788882-8D42-1A92-B349-70916D70C74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Solución</a:t>
            </a:r>
            <a:r>
              <a:rPr lang="en-US" dirty="0"/>
              <a:t> </a:t>
            </a:r>
            <a:r>
              <a:rPr lang="en-US" dirty="0" err="1"/>
              <a:t>Ejercicio</a:t>
            </a:r>
            <a:r>
              <a:rPr lang="en-US" dirty="0"/>
              <a:t> CEF #2 “Juego de dados”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ADB1FA1-09DB-A938-B990-383165AA5D8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/>
              <a:t>Econometría</a:t>
            </a:r>
            <a:r>
              <a:rPr lang="en-US" dirty="0"/>
              <a:t> 2025</a:t>
            </a:r>
            <a:endParaRPr lang="es-419" dirty="0"/>
          </a:p>
        </p:txBody>
      </p:sp>
    </p:spTree>
    <p:extLst>
      <p:ext uri="{BB962C8B-B14F-4D97-AF65-F5344CB8AC3E}">
        <p14:creationId xmlns:p14="http://schemas.microsoft.com/office/powerpoint/2010/main" val="37330320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F6D672-3C79-CCA9-16DD-62A844CB8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Enunciado</a:t>
            </a:r>
            <a:endParaRPr lang="es-419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8200F63-8439-2188-9FB6-09D5E2661F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s-419" sz="2400" dirty="0"/>
              <a:t>1. Un juego consiste en tirar un dado (de 6 caras) 10 veces, y paga $1000 por la suma de los puntos obtenidos. Utilice el valor esperado para calcular el precio al que debería cobrarse para que el juego sea "justo" (no tenga ninguna pérdida o ganancia esperada para el jugador)</a:t>
            </a:r>
          </a:p>
          <a:p>
            <a:pPr marL="0" indent="0">
              <a:buNone/>
            </a:pPr>
            <a:r>
              <a:rPr lang="es-419" sz="2400" dirty="0"/>
              <a:t>2. Calcule la varianza del retorno.</a:t>
            </a:r>
          </a:p>
          <a:p>
            <a:pPr marL="0" indent="0">
              <a:buNone/>
            </a:pPr>
            <a:r>
              <a:rPr lang="es-419" sz="2400" dirty="0"/>
              <a:t>3. Simule 1000 jugadas a este juego. En cada jugada calcule el retorno. En base a los retornos calcule la media, la varianza (muestral), y el desvío estándar. Utilizando un histograma visualice los retornos. Calcule la probabilidad de obtener un retorno menor a 25 mil pesos.</a:t>
            </a:r>
          </a:p>
        </p:txBody>
      </p:sp>
    </p:spTree>
    <p:extLst>
      <p:ext uri="{BB962C8B-B14F-4D97-AF65-F5344CB8AC3E}">
        <p14:creationId xmlns:p14="http://schemas.microsoft.com/office/powerpoint/2010/main" val="17968794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B108ADB1-2FB5-F6BF-09C8-9FBDB6D11C3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99616"/>
                <a:ext cx="10515600" cy="4677347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sz="2000" b="0" dirty="0"/>
                  <a:t>El </a:t>
                </a:r>
                <a:r>
                  <a:rPr lang="en-US" sz="2000" b="0" dirty="0" err="1"/>
                  <a:t>retorno</a:t>
                </a:r>
                <a:r>
                  <a:rPr lang="en-US" sz="2000" b="0" dirty="0"/>
                  <a:t> </a:t>
                </a:r>
                <a:r>
                  <a:rPr lang="en-US" sz="2000" b="0" dirty="0" err="1"/>
                  <a:t>esperado</a:t>
                </a:r>
                <a:r>
                  <a:rPr lang="en-US" sz="2000" b="0" dirty="0"/>
                  <a:t> del </a:t>
                </a:r>
                <a:r>
                  <a:rPr lang="en-US" sz="2000" b="0" dirty="0" err="1"/>
                  <a:t>juego</a:t>
                </a:r>
                <a:r>
                  <a:rPr lang="en-US" sz="2000" b="0" dirty="0"/>
                  <a:t> es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10⋅1000⋅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𝑃𝑟𝑒𝑐𝑖𝑜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10.000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endParaRPr lang="en-US" sz="2000" b="0" dirty="0"/>
              </a:p>
              <a:p>
                <a:pPr lvl="1"/>
                <a:r>
                  <a:rPr lang="en-US" sz="1800" b="0" dirty="0"/>
                  <a:t>Propiedad del valor </a:t>
                </a:r>
                <a:r>
                  <a:rPr lang="en-US" sz="1800" b="0" dirty="0" err="1"/>
                  <a:t>esperado</a:t>
                </a:r>
                <a:r>
                  <a:rPr lang="en-US" sz="1800" b="0" dirty="0"/>
                  <a:t>: </a:t>
                </a:r>
                <a14:m>
                  <m:oMath xmlns:m="http://schemas.openxmlformats.org/officeDocument/2006/math">
                    <m:r>
                      <a:rPr lang="en-US" sz="180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180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80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sz="18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180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80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1800" dirty="0"/>
                  <a:t> </a:t>
                </a:r>
                <a:r>
                  <a:rPr lang="en-US" sz="1800" dirty="0" err="1"/>
                  <a:t>donde</a:t>
                </a:r>
                <a:r>
                  <a:rPr lang="en-US" sz="1800" dirty="0"/>
                  <a:t> b es </a:t>
                </a:r>
                <a:r>
                  <a:rPr lang="en-US" sz="1800" dirty="0" err="1"/>
                  <a:t>una</a:t>
                </a:r>
                <a:r>
                  <a:rPr lang="en-US" sz="1800" dirty="0"/>
                  <a:t> </a:t>
                </a:r>
                <a:r>
                  <a:rPr lang="en-US" sz="1800" dirty="0" err="1"/>
                  <a:t>constante</a:t>
                </a:r>
                <a:endParaRPr lang="en-US" sz="1800" dirty="0"/>
              </a:p>
              <a:p>
                <a:pPr marL="457200" lvl="1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b="0" dirty="0"/>
                  <a:t>El valor </a:t>
                </a:r>
                <a:r>
                  <a:rPr lang="en-US" sz="2000" b="0" dirty="0" err="1"/>
                  <a:t>esperado</a:t>
                </a:r>
                <a:r>
                  <a:rPr lang="en-US" sz="2000" b="0" dirty="0"/>
                  <a:t> de un dado es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∑</m:t>
                        </m:r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num>
                      <m:den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1+2+3+4+5+6</m:t>
                        </m:r>
                      </m:num>
                      <m:den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21</m:t>
                        </m:r>
                      </m:num>
                      <m:den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=3,5</m:t>
                    </m:r>
                  </m:oMath>
                </a14:m>
                <a:endParaRPr lang="es-419" sz="2000" dirty="0"/>
              </a:p>
              <a:p>
                <a:pPr marL="0" indent="0">
                  <a:buNone/>
                </a:pPr>
                <a:endParaRPr lang="es-419" sz="2000" dirty="0"/>
              </a:p>
              <a:p>
                <a:pPr marL="0" indent="0">
                  <a:buNone/>
                </a:pPr>
                <a:r>
                  <a:rPr lang="es-419" sz="2000" dirty="0"/>
                  <a:t>Cada punto equivale a $1000 por tanto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1000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=1000⋅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=$3500</m:t>
                    </m:r>
                  </m:oMath>
                </a14:m>
                <a:endParaRPr lang="en-US" sz="2000" dirty="0"/>
              </a:p>
              <a:p>
                <a:pPr lvl="1"/>
                <a:r>
                  <a:rPr lang="en-US" sz="1800" dirty="0" err="1"/>
                  <a:t>Propiedad</a:t>
                </a:r>
                <a:r>
                  <a:rPr lang="en-US" sz="1800" dirty="0"/>
                  <a:t> del valor </a:t>
                </a:r>
                <a:r>
                  <a:rPr lang="en-US" sz="1800" dirty="0" err="1"/>
                  <a:t>esperado</a:t>
                </a:r>
                <a:r>
                  <a:rPr lang="en-US" sz="1800" dirty="0"/>
                  <a:t>: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𝑎𝑥</m:t>
                        </m:r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s-419" sz="1800" dirty="0"/>
              </a:p>
              <a:p>
                <a:pPr marL="0" indent="0">
                  <a:buNone/>
                </a:pPr>
                <a:r>
                  <a:rPr lang="es-419" sz="2000" dirty="0"/>
                  <a:t>Siendo 10 lanzamientos,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=10⋅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=10⋅$3500=$35000 </m:t>
                    </m:r>
                  </m:oMath>
                </a14:m>
                <a:endParaRPr lang="es-419" sz="2000" dirty="0"/>
              </a:p>
              <a:p>
                <a:pPr marL="0" indent="0">
                  <a:buNone/>
                </a:pPr>
                <a:endParaRPr lang="es-419" sz="2000" dirty="0"/>
              </a:p>
              <a:p>
                <a:pPr marL="0" indent="0">
                  <a:buNone/>
                </a:pPr>
                <a:r>
                  <a:rPr lang="es-419" sz="2000" dirty="0"/>
                  <a:t>Para encontrar el precio justo, impongo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sz="20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$35.000−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=$35.000</m:t>
                      </m:r>
                    </m:oMath>
                  </m:oMathPara>
                </a14:m>
                <a:endParaRPr lang="en-US" sz="2000" b="0" dirty="0"/>
              </a:p>
              <a:p>
                <a:pPr marL="0" indent="0">
                  <a:buNone/>
                </a:pPr>
                <a:endParaRPr lang="es-419" sz="2400"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B108ADB1-2FB5-F6BF-09C8-9FBDB6D11C3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99616"/>
                <a:ext cx="10515600" cy="4677347"/>
              </a:xfrm>
              <a:blipFill>
                <a:blip r:embed="rId2"/>
                <a:stretch>
                  <a:fillRect l="-638" t="-1695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ítulo 4">
            <a:extLst>
              <a:ext uri="{FF2B5EF4-FFF2-40B4-BE49-F238E27FC236}">
                <a16:creationId xmlns:a16="http://schemas.microsoft.com/office/drawing/2014/main" id="{A4F94E6A-B972-CA14-9E22-97F51E60CF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742944" cy="1325563"/>
          </a:xfrm>
        </p:spPr>
        <p:txBody>
          <a:bodyPr/>
          <a:lstStyle/>
          <a:p>
            <a:r>
              <a:rPr lang="en-US" dirty="0"/>
              <a:t>Valor </a:t>
            </a:r>
            <a:r>
              <a:rPr lang="en-US" dirty="0" err="1"/>
              <a:t>Esperado</a:t>
            </a:r>
            <a:endParaRPr lang="es-419" dirty="0"/>
          </a:p>
        </p:txBody>
      </p:sp>
    </p:spTree>
    <p:extLst>
      <p:ext uri="{BB962C8B-B14F-4D97-AF65-F5344CB8AC3E}">
        <p14:creationId xmlns:p14="http://schemas.microsoft.com/office/powerpoint/2010/main" val="7388289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09948FAE-5545-DB64-3AA0-B1ABB1CCD3A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674096" cy="4351338"/>
              </a:xfrm>
            </p:spPr>
            <p:txBody>
              <a:bodyPr>
                <a:normAutofit fontScale="70000" lnSpcReduction="20000"/>
              </a:bodyPr>
              <a:lstStyle/>
              <a:p>
                <a:pPr marL="0" indent="0">
                  <a:buNone/>
                </a:pPr>
                <a:r>
                  <a:rPr lang="en-US" sz="2600" dirty="0">
                    <a:latin typeface="Cambria Math" panose="02040503050406030204" pitchFamily="18" charset="0"/>
                  </a:rPr>
                  <a:t>Calculamos la </a:t>
                </a:r>
                <a:r>
                  <a:rPr lang="en-US" sz="2600" dirty="0" err="1">
                    <a:latin typeface="Cambria Math" panose="02040503050406030204" pitchFamily="18" charset="0"/>
                  </a:rPr>
                  <a:t>varianza</a:t>
                </a:r>
                <a:r>
                  <a:rPr lang="en-US" sz="2600" dirty="0">
                    <a:latin typeface="Cambria Math" panose="02040503050406030204" pitchFamily="18" charset="0"/>
                  </a:rPr>
                  <a:t> para 1 </a:t>
                </a:r>
                <a:r>
                  <a:rPr lang="en-US" sz="2600" dirty="0" err="1">
                    <a:latin typeface="Cambria Math" panose="02040503050406030204" pitchFamily="18" charset="0"/>
                  </a:rPr>
                  <a:t>lanzamiento</a:t>
                </a:r>
                <a:endParaRPr lang="en-US" sz="2600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600" i="1" smtClean="0">
                          <a:latin typeface="Cambria Math" panose="02040503050406030204" pitchFamily="18" charset="0"/>
                        </a:rPr>
                        <m:t>𝑉𝑎𝑟</m:t>
                      </m:r>
                      <m:d>
                        <m:dPr>
                          <m:ctrlPr>
                            <a:rPr lang="en-US" sz="2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6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6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sz="26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600" b="0" i="1" smtClean="0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  <m:d>
                                    <m:dPr>
                                      <m:ctrlPr>
                                        <a:rPr lang="en-US" sz="26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6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∑</m:t>
                          </m:r>
                          <m:sSup>
                            <m:sSupPr>
                              <m:ctrlP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6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6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2600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  <m:r>
                                    <a:rPr lang="en-US" sz="2600" b="0" i="1" smtClean="0">
                                      <a:latin typeface="Cambria Math" panose="02040503050406030204" pitchFamily="18" charset="0"/>
                                    </a:rPr>
                                    <m:t>−3.5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6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600" i="1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  <m:sSup>
                        <m:sSupPr>
                          <m:ctrlPr>
                            <a:rPr lang="en-US" sz="2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600" i="1">
                                  <a:latin typeface="Cambria Math" panose="02040503050406030204" pitchFamily="18" charset="0"/>
                                </a:rPr>
                                <m:t>1−3.5</m:t>
                              </m:r>
                            </m:e>
                          </m:d>
                        </m:e>
                        <m:sup>
                          <m:r>
                            <a:rPr lang="en-US" sz="26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600" i="1">
                          <a:latin typeface="Cambria Math" panose="02040503050406030204" pitchFamily="18" charset="0"/>
                        </a:rPr>
                        <m:t>+…+</m:t>
                      </m:r>
                      <m:f>
                        <m:fPr>
                          <m:ctrlPr>
                            <a:rPr lang="en-US" sz="2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6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600" i="1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  <m:sSup>
                        <m:sSupPr>
                          <m:ctrlPr>
                            <a:rPr lang="en-US" sz="2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600" i="1">
                                  <a:latin typeface="Cambria Math" panose="02040503050406030204" pitchFamily="18" charset="0"/>
                                </a:rPr>
                                <m:t>6−3.5</m:t>
                              </m:r>
                            </m:e>
                          </m:d>
                        </m:e>
                        <m:sup>
                          <m:r>
                            <a:rPr lang="en-US" sz="26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s-419" sz="2600" dirty="0">
                          <a:latin typeface="Cambria Math" panose="02040503050406030204" pitchFamily="18" charset="0"/>
                        </a:rPr>
                        <m:t>2</m:t>
                      </m:r>
                      <m:r>
                        <m:rPr>
                          <m:nor/>
                        </m:rPr>
                        <a:rPr lang="en-US" sz="2600" b="0" i="0" dirty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nor/>
                        </m:rPr>
                        <a:rPr lang="es-419" sz="2600" dirty="0">
                          <a:latin typeface="Cambria Math" panose="02040503050406030204" pitchFamily="18" charset="0"/>
                        </a:rPr>
                        <m:t>91666667</m:t>
                      </m:r>
                    </m:oMath>
                  </m:oMathPara>
                </a14:m>
                <a:endParaRPr lang="en-US" sz="2600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sz="26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600" i="1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sz="2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6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6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sz="260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600" i="1">
                          <a:latin typeface="Cambria Math" panose="02040503050406030204" pitchFamily="18" charset="0"/>
                        </a:rPr>
                        <m:t>𝐸</m:t>
                      </m:r>
                      <m:sSup>
                        <m:sSupPr>
                          <m:ctrlPr>
                            <a:rPr lang="en-US" sz="2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6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  <m:sup>
                          <m:r>
                            <a:rPr lang="en-US" sz="26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s-419" sz="2600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sz="2600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𝑉𝑎𝑟</m:t>
                      </m:r>
                      <m:d>
                        <m:dPr>
                          <m:ctrlPr>
                            <a:rPr lang="en-US" sz="2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6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sz="2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−2</m:t>
                          </m:r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ctrlP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sSup>
                            <m:sSupPr>
                              <m:ctrlP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6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2600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600" i="1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sz="2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6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6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US" sz="2600" i="1">
                              <a:latin typeface="Cambria Math" panose="02040503050406030204" pitchFamily="18" charset="0"/>
                            </a:rPr>
                            <m:t>−2</m:t>
                          </m:r>
                          <m:r>
                            <a:rPr lang="en-US" sz="2600" i="1">
                              <a:latin typeface="Cambria Math" panose="02040503050406030204" pitchFamily="18" charset="0"/>
                            </a:rPr>
                            <m:t>𝐸</m:t>
                          </m:r>
                          <m:sSup>
                            <m:sSupPr>
                              <m:ctrlPr>
                                <a:rPr lang="en-US" sz="2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6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6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sz="26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6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600" i="1">
                              <a:latin typeface="Cambria Math" panose="02040503050406030204" pitchFamily="18" charset="0"/>
                            </a:rPr>
                            <m:t>𝐸</m:t>
                          </m:r>
                          <m:sSup>
                            <m:sSupPr>
                              <m:ctrlPr>
                                <a:rPr lang="en-US" sz="2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6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6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sz="26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sz="2600" i="1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26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sz="2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𝐸</m:t>
                      </m:r>
                      <m:sSup>
                        <m:sSupPr>
                          <m:ctrlPr>
                            <a:rPr lang="en-US" sz="2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  <m:sup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s-419" sz="2600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s-419" sz="2600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s-419" sz="2600" dirty="0">
                    <a:latin typeface="Cambria Math" panose="02040503050406030204" pitchFamily="18" charset="0"/>
                  </a:rPr>
                  <a:t>Incorporo los 10 lanzamientos: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600" i="1" smtClean="0">
                          <a:latin typeface="Cambria Math" panose="02040503050406030204" pitchFamily="18" charset="0"/>
                        </a:rPr>
                        <m:t>𝑉𝑎𝑟</m:t>
                      </m:r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(</m:t>
                      </m:r>
                      <m:nary>
                        <m:naryPr>
                          <m:chr m:val="∑"/>
                          <m:ctrlPr>
                            <a:rPr lang="en-US" sz="26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sup>
                        <m:e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en-US" sz="26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10⋅</m:t>
                      </m:r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𝑉𝑎𝑟</m:t>
                      </m:r>
                      <m:d>
                        <m:dPr>
                          <m:ctrlPr>
                            <a:rPr lang="en-US" sz="2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=10⋅2,91=29,166</m:t>
                      </m:r>
                    </m:oMath>
                  </m:oMathPara>
                </a14:m>
                <a:endParaRPr lang="es-419" sz="2600" dirty="0">
                  <a:latin typeface="Cambria Math" panose="02040503050406030204" pitchFamily="18" charset="0"/>
                </a:endParaRPr>
              </a:p>
              <a:p>
                <a:pPr lvl="1"/>
                <a:r>
                  <a:rPr lang="es-419" sz="2600" dirty="0">
                    <a:latin typeface="Cambria Math" panose="02040503050406030204" pitchFamily="18" charset="0"/>
                  </a:rPr>
                  <a:t>La varianza de la suma de variables independientes es la suma de sus varianzas.</a:t>
                </a:r>
              </a:p>
              <a:p>
                <a:pPr marL="457200" lvl="1" indent="0">
                  <a:buNone/>
                </a:pPr>
                <a:endParaRPr lang="es-419" sz="2600" dirty="0"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09948FAE-5545-DB64-3AA0-B1ABB1CCD3A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674096" cy="4351338"/>
              </a:xfrm>
              <a:blipFill>
                <a:blip r:embed="rId2"/>
                <a:stretch>
                  <a:fillRect l="-514" t="-2521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ítulo 4">
            <a:extLst>
              <a:ext uri="{FF2B5EF4-FFF2-40B4-BE49-F238E27FC236}">
                <a16:creationId xmlns:a16="http://schemas.microsoft.com/office/drawing/2014/main" id="{7805E973-006F-0A89-9EC2-63F1B2F7D4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Varianza</a:t>
            </a:r>
            <a:endParaRPr lang="es-419" dirty="0"/>
          </a:p>
        </p:txBody>
      </p: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8C66E77E-6D25-78D9-03D4-34B621DF249D}"/>
              </a:ext>
            </a:extLst>
          </p:cNvPr>
          <p:cNvCxnSpPr/>
          <p:nvPr/>
        </p:nvCxnSpPr>
        <p:spPr>
          <a:xfrm>
            <a:off x="3903406" y="2517058"/>
            <a:ext cx="1386349" cy="4719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Botón de acción: Ayuda 7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B43B34A3-18E4-B996-0CC0-FAA8B4FD17BA}"/>
              </a:ext>
            </a:extLst>
          </p:cNvPr>
          <p:cNvSpPr/>
          <p:nvPr/>
        </p:nvSpPr>
        <p:spPr>
          <a:xfrm>
            <a:off x="3215148" y="2681748"/>
            <a:ext cx="688258" cy="747252"/>
          </a:xfrm>
          <a:prstGeom prst="actionButtonHelp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1709371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FC03E6-C9EC-4A05-BACA-A93630E942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Varianza</a:t>
            </a:r>
            <a:endParaRPr lang="es-419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B6C2F68D-48CE-2640-24A9-E961E40A0F6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s-419" sz="2400" dirty="0">
                    <a:latin typeface="Cambria Math" panose="02040503050406030204" pitchFamily="18" charset="0"/>
                  </a:rPr>
                  <a:t>Incorporo el premio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𝑉𝑎𝑟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($1.000</m:t>
                      </m:r>
                      <m:nary>
                        <m:naryPr>
                          <m:chr m:val="∑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sup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)=$</m:t>
                          </m:r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1.000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𝑉𝑎𝑟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(</m:t>
                          </m:r>
                          <m:nary>
                            <m:naryPr>
                              <m:chr m:val="∑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sup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1.000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⋅29,1=29.166.667</m:t>
                          </m:r>
                        </m:e>
                      </m:nary>
                    </m:oMath>
                  </m:oMathPara>
                </a14:m>
                <a:endParaRPr lang="es-419" sz="2400" dirty="0">
                  <a:latin typeface="Cambria Math" panose="02040503050406030204" pitchFamily="18" charset="0"/>
                </a:endParaRPr>
              </a:p>
              <a:p>
                <a:pPr lvl="1"/>
                <a:r>
                  <a:rPr lang="es-419" dirty="0">
                    <a:latin typeface="Cambria Math" panose="02040503050406030204" pitchFamily="18" charset="0"/>
                  </a:rPr>
                  <a:t>Propiedad de la varianza: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𝑉𝑎𝑟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𝑉𝑎𝑟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endParaRPr lang="es-419" dirty="0">
                  <a:latin typeface="Cambria Math" panose="02040503050406030204" pitchFamily="18" charset="0"/>
                </a:endParaRPr>
              </a:p>
              <a:p>
                <a:pPr marL="457200" lvl="1" indent="0">
                  <a:buNone/>
                </a:pPr>
                <a:endParaRPr lang="es-419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s-419" sz="2400" dirty="0">
                    <a:latin typeface="Cambria Math" panose="02040503050406030204" pitchFamily="18" charset="0"/>
                  </a:rPr>
                  <a:t>Incorporo el precio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𝑉𝑎𝑟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($1000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sup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)=</m:t>
                          </m:r>
                        </m:e>
                      </m:nary>
                      <m:r>
                        <a:rPr lang="en-US" i="1">
                          <a:latin typeface="Cambria Math" panose="02040503050406030204" pitchFamily="18" charset="0"/>
                        </a:rPr>
                        <m:t>𝑉𝑎𝑟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($1000</m:t>
                      </m:r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10</m:t>
                          </m:r>
                        </m:sup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)=</m:t>
                          </m:r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29.166.667</m:t>
                      </m:r>
                    </m:oMath>
                  </m:oMathPara>
                </a14:m>
                <a:endParaRPr lang="es-419" dirty="0">
                  <a:latin typeface="Cambria Math" panose="02040503050406030204" pitchFamily="18" charset="0"/>
                </a:endParaRPr>
              </a:p>
              <a:p>
                <a:pPr lvl="1"/>
                <a:r>
                  <a:rPr lang="es-419" dirty="0">
                    <a:latin typeface="Cambria Math" panose="02040503050406030204" pitchFamily="18" charset="0"/>
                  </a:rPr>
                  <a:t>Propiedad de la varianza: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𝑉𝑎𝑟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𝑉𝑎𝑟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endParaRPr lang="es-419" sz="2000" dirty="0">
                  <a:latin typeface="Cambria Math" panose="02040503050406030204" pitchFamily="18" charset="0"/>
                </a:endParaRPr>
              </a:p>
              <a:p>
                <a:endParaRPr lang="es-419"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B6C2F68D-48CE-2640-24A9-E961E40A0F6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1961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764036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214</TotalTime>
  <Words>383</Words>
  <Application>Microsoft Office PowerPoint</Application>
  <PresentationFormat>Widescreen</PresentationFormat>
  <Paragraphs>39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Cambria Math</vt:lpstr>
      <vt:lpstr>Tema de Office</vt:lpstr>
      <vt:lpstr>Solución Ejercicio CEF #2 “Juego de dados”</vt:lpstr>
      <vt:lpstr>Enunciado</vt:lpstr>
      <vt:lpstr>Valor Esperado</vt:lpstr>
      <vt:lpstr>Varianza</vt:lpstr>
      <vt:lpstr>Varianza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 Clase 4</dc:title>
  <dc:creator>Octavio Santalucia</dc:creator>
  <cp:lastModifiedBy>Octavio Santalucia</cp:lastModifiedBy>
  <cp:revision>1</cp:revision>
  <dcterms:created xsi:type="dcterms:W3CDTF">2024-03-24T22:11:49Z</dcterms:created>
  <dcterms:modified xsi:type="dcterms:W3CDTF">2026-03-16T19:41:34Z</dcterms:modified>
</cp:coreProperties>
</file>